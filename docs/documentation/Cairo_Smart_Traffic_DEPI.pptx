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OPENING (60 seconds):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Good morning. We're here to present Cairo Smart Traffic — a real-time AI monitoring system for Cairo's roads.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Over the past several weeks, our team of five built an end-to-end data engineering platform that watches 25 critical locations across Cairo in real time, predicts congestion 60 minutes ahead, and explains everything in plain language using AI.</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In the next 10 minutes, we'll walk you through the problem we solved, how we solved it, the architecture, and a brief live demo. Let's dive in.</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TIPS:</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Smile. First impressions matter.</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Don't rush. This slide sets the tone.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State 'Cairo Smart Traffic' clearly.</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Whoever opens can briefly introduce the team or just say 'I'm joined by my four teammates'.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 — PROJECT IDEA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Let's start with the problem.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Cairo's road network operates beyond capacity for most of the day. According to our analysis, average congestion ratio at peak hour is 89.4%. Inner-city streets drop to 9 km/h while highways flow at 78. Traffic operators lack a unified system to see all of this at once, predict what's coming, and act before situations get worse.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Our solution is an end-to-end real-time platform. We ingest data from TomTom and OpenWeather APIs, process it through machine learning models, generate natural-language insights using Google Gemini, and present results in two interfaces — a real-time React dashboard for operators, and a Power BI analytical view for planners.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makes this project different is that we did three things simultaneously: real-time streaming machine learning, predictive forecasting 60 minutes ahead, and AI-generated natural language summaries. Each one is impressive alone. The combination is rare.</a:t>
            </a:r>
            <a:br>
              <a:rPr lang="en-US" sz="1200">
                <a:solidFill>
                  <a:schemeClr val="dk1"/>
                </a:solidFill>
                <a:latin typeface="Arial"/>
                <a:ea typeface="Arial"/>
                <a:cs typeface="Arial"/>
                <a:sym typeface="Arial"/>
              </a:rPr>
            </a:br>
            <a:endParaRPr/>
          </a:p>
        </p:txBody>
      </p:sp>
      <p:sp>
        <p:nvSpPr>
          <p:cNvPr id="44" name="Google Shape;4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3 — DASHBOARD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what an operator sees when they log in.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the top, you'll notice the AI Summary — Google Gemini reads the entire current state of all 25 locations and writes a natural-language paragraph explaining what's happening. It refreshes every 5 minutes.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 the center is the live traffic map — 25 locations across 8 Cairo districts, color-coded by congestion level.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right, the Forecast Preview shows the top 5 roads where congestion is predicted to worsen most in the next hour. Below that, the Anomaly Feed streams real-time alerts from our machine learning models.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at the top-right, you'll see a Data Quality badge — every message that reaches this dashboard passed 7 quality checks.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point is: an operator opens this once and immediately sees current state, predicted problems, and AI explanation — without clicking anywhere.</a:t>
            </a:r>
            <a:br>
              <a:rPr lang="en-US" sz="1200">
                <a:solidFill>
                  <a:schemeClr val="dk1"/>
                </a:solidFill>
                <a:latin typeface="Arial"/>
                <a:ea typeface="Arial"/>
                <a:cs typeface="Arial"/>
                <a:sym typeface="Arial"/>
              </a:rPr>
            </a:br>
            <a:endParaRPr/>
          </a:p>
        </p:txBody>
      </p:sp>
      <p:sp>
        <p:nvSpPr>
          <p:cNvPr id="96" name="Google Shape;9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40fc8137f_0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40fc8137f_0_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4 USERS &amp; FEATURES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Our platform serves three different users, each with different needs.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Traffic Operator is our primary user. They need to see what's happening right now and respond. So we built the live map, the anomaly feed, the forecast preview, and the AI summary.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Data Analyst or urban planner needs different things — historical patterns, district-level KPIs, and reports they can share with stakeholders. So we built the Power BI dashboard with 13 visuals on top of our 5 dbt mart tables.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Platform Engineer keeps everything running. They need a Data Quality dashboard, a system health page, Airflow for orchestrating background jobs, and a one-click startup script. We built all of these.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same platform serves three audiences without compromising any of them.</a:t>
            </a:r>
            <a:br>
              <a:rPr lang="en-US" sz="1200">
                <a:solidFill>
                  <a:schemeClr val="dk1"/>
                </a:solidFill>
                <a:latin typeface="Arial"/>
                <a:ea typeface="Arial"/>
                <a:cs typeface="Arial"/>
                <a:sym typeface="Arial"/>
              </a:rPr>
            </a:br>
            <a:endParaRPr/>
          </a:p>
        </p:txBody>
      </p:sp>
      <p:sp>
        <p:nvSpPr>
          <p:cNvPr id="144" name="Google Shape;14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5 — DATA ARCHITECTURE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have two database schemas, intentionally separate.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left, the operational schema uses TimescaleDB — a PostgreSQL extension optimized for time-series data. It holds tables like raw_events, predictions, anomalies, forecasts, ai_summaries, and data_quality_events. This is what feeds our React dashboard.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the right, we have a star schema warehouse. The fact table fact_traffic is loaded by Spark Streaming, connected to three dimension tables — dim_location for the 25 places, dim_time for the 168 hour-day combinations, and dim_weather for weather pattern keys.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On top of this warehouse, we built a complete dbt project with 6 models — one staging view and 5 mart tables. The marts include daily_congestion_report, district_overview, hourly_traffic_summary, rush_hour_analysis, and weather_impact_analysis. Power BI consumes these directly.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two schemas? Because operational and analytical queries have completely different needs. Mixing them slows both down.</a:t>
            </a:r>
            <a:br>
              <a:rPr lang="en-US" sz="1200">
                <a:solidFill>
                  <a:schemeClr val="dk1"/>
                </a:solidFill>
                <a:latin typeface="Arial"/>
                <a:ea typeface="Arial"/>
                <a:cs typeface="Arial"/>
                <a:sym typeface="Arial"/>
              </a:rPr>
            </a:br>
            <a:endParaRPr/>
          </a:p>
        </p:txBody>
      </p:sp>
      <p:sp>
        <p:nvSpPr>
          <p:cNvPr id="200" name="Google Shape;20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6 — TECH STACK :</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chose production-grade tools across every layer.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Languages: Python for the streaming pipeline and ML, TypeScript for the frontend, JavaScript for the API, and SQL for the warehouse.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streaming, Apache Kafka is our message bus, and Apache Spark Streaming does our analytical warehouse loading.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Storage is PostgreSQL with TimescaleDB. Transformation happens in dbt with 6 models.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machine learning, we used scikit-learn for Random Forest and Isolation Forest, LightGBM for our 6 forecast models, SHAP for model explainability, and Google Gemini 2.5 Flash for natural-language insights.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Orchestration uses Apache Airflow with Docker Compose running 9 services.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Our frontend is React 18 with Vite and Tailwind, served by an Express backend.</a:t>
            </a:r>
            <a:br>
              <a:rPr lang="en-US" sz="1200">
                <a:solidFill>
                  <a:schemeClr val="dk1"/>
                </a:solidFill>
                <a:latin typeface="Arial"/>
                <a:ea typeface="Arial"/>
                <a:cs typeface="Arial"/>
                <a:sym typeface="Arial"/>
              </a:rPr>
            </a:br>
            <a:endParaRPr/>
          </a:p>
        </p:txBody>
      </p:sp>
      <p:sp>
        <p:nvSpPr>
          <p:cNvPr id="261" name="Google Shape;26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7 — LIVE APP &amp; TEST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Our system is fully operational right now — running continuously on our development infrastructure.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tested in three phases. Unit testing for ML inference and data quality checks — all passing. Integration testing for the end-to-end pipeline from API through Kafka, through the consumer, into the database — verified working. Operational testing with 6+ hours continuous running — zero crashes.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Here are the numbers that matter: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Random Forest classification: 98.3% accuracy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Forecast accuracy at 60 minutes: R² of 0.91 — explaining 91% of speed variation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Anomaly false-positive rate: 4%, down from 56% in the raw model — that's a 92% reduction in false alarms thanks to rule-based post-filtering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Data quality: 100% pass rate in production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- 22 out of 25 locations producing live forecasts right now</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Dashboard refresh latency: under 30 seconds end-to-end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These are real numbers from our running system, not projections.</a:t>
            </a:r>
            <a:br>
              <a:rPr lang="en-US" sz="1200">
                <a:solidFill>
                  <a:schemeClr val="dk1"/>
                </a:solidFill>
                <a:latin typeface="Arial"/>
                <a:ea typeface="Arial"/>
                <a:cs typeface="Arial"/>
                <a:sym typeface="Arial"/>
              </a:rPr>
            </a:br>
            <a:endParaRPr sz="1200">
              <a:solidFill>
                <a:schemeClr val="dk1"/>
              </a:solidFill>
              <a:latin typeface="Arial"/>
              <a:ea typeface="Arial"/>
              <a:cs typeface="Arial"/>
              <a:sym typeface="Arial"/>
            </a:endParaRPr>
          </a:p>
        </p:txBody>
      </p:sp>
      <p:sp>
        <p:nvSpPr>
          <p:cNvPr id="340" name="Google Shape;34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40fc8137f_0_1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e40fc8137f_0_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8 — DELIVERABLES :</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did we deliver?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Documentation: Project Description, full technical Documentation, a Traffic Recommendations Report that came from our analysis, and architecture diagrams.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Source Code: complete GitHub repository, public access. Also as a downloadable ZIP. Includes setup automation scripts.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Working System itself: 9 Docker services orchestrated, the producer-consumer-spark pipeline running, the React and Express dashboard, and 3 configured Airflow DAGs.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Visualizations: 8 pages in the React dashboard, 13 visuals in Power BI, live AI summaries, and full forecast tables.</a:t>
            </a:r>
            <a:br>
              <a:rPr lang="en-US" sz="1200">
                <a:solidFill>
                  <a:schemeClr val="dk1"/>
                </a:solidFill>
                <a:latin typeface="Arial"/>
                <a:ea typeface="Arial"/>
                <a:cs typeface="Arial"/>
                <a:sym typeface="Arial"/>
              </a:rPr>
            </a:br>
            <a:endParaRPr sz="1200">
              <a:solidFill>
                <a:schemeClr val="dk1"/>
              </a:solidFill>
              <a:latin typeface="Arial"/>
              <a:ea typeface="Arial"/>
              <a:cs typeface="Arial"/>
              <a:sym typeface="Arial"/>
            </a:endParaRPr>
          </a:p>
        </p:txBody>
      </p:sp>
      <p:sp>
        <p:nvSpPr>
          <p:cNvPr id="399" name="Google Shape;39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9 — TEAM: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Quick word about our team of five.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Shahd built the Python consumer, the ML pipeline, integrated Gemini for AI summaries, and built the React dashboard.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Omnya owned the business intelligence — the Power BI dashboard with 13 visualizations that powers our executive view.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Abdelrahman built the Spark Streaming consumer that loads our warehouse, and the dbt project with 6 models that transforms our raw data into analytical marts.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Ebtihal set up Airflow and built our 3 DAGs that orchestrate the scheduled jobs across the platform.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And Aya designed the data warehouse — the star schema with fact_traffic and our three dimension tables that everything analytical sits on top of.</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 coordinated through GitHub for code, daily messaging for syncs, and shared documentation workspaces. Code reviews ran through pull requests, and we worked in weekly milestones.</a:t>
            </a:r>
            <a:br>
              <a:rPr lang="en-US" sz="1200">
                <a:solidFill>
                  <a:schemeClr val="dk1"/>
                </a:solidFill>
                <a:latin typeface="Arial"/>
                <a:ea typeface="Arial"/>
                <a:cs typeface="Arial"/>
                <a:sym typeface="Arial"/>
              </a:rPr>
            </a:br>
            <a:endParaRPr sz="1200">
              <a:solidFill>
                <a:schemeClr val="dk1"/>
              </a:solidFill>
              <a:latin typeface="Arial"/>
              <a:ea typeface="Arial"/>
              <a:cs typeface="Arial"/>
              <a:sym typeface="Arial"/>
            </a:endParaRPr>
          </a:p>
        </p:txBody>
      </p:sp>
      <p:sp>
        <p:nvSpPr>
          <p:cNvPr id="462" name="Google Shape;46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endParaRPr/>
          </a:p>
        </p:txBody>
      </p:sp>
      <p:sp>
        <p:nvSpPr>
          <p:cNvPr id="547" name="Google Shape;54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qpuPgN0G19gowoc893AiSBZfCQyqJlto/view" TargetMode="External"/><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3"/>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0" y="5669280"/>
            <a:ext cx="12191695" cy="1188720"/>
          </a:xfrm>
          <a:prstGeom prst="rect">
            <a:avLst/>
          </a:prstGeom>
          <a:solidFill>
            <a:srgbClr val="047954">
              <a:alpha val="784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548640" y="36576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7954"/>
              </a:buClr>
              <a:buSzPts val="1200"/>
              <a:buFont typeface="Calibri"/>
              <a:buNone/>
            </a:pPr>
            <a:r>
              <a:rPr b="1" lang="en-US" sz="1200">
                <a:solidFill>
                  <a:srgbClr val="047954"/>
                </a:solidFill>
                <a:latin typeface="Calibri"/>
                <a:ea typeface="Calibri"/>
                <a:cs typeface="Calibri"/>
                <a:sym typeface="Calibri"/>
              </a:rPr>
              <a:t>DEPI · DATA ENGINEERING TRACK</a:t>
            </a:r>
            <a:endParaRPr sz="1200">
              <a:solidFill>
                <a:schemeClr val="dk1"/>
              </a:solidFill>
              <a:latin typeface="Calibri"/>
              <a:ea typeface="Calibri"/>
              <a:cs typeface="Calibri"/>
              <a:sym typeface="Calibri"/>
            </a:endParaRPr>
          </a:p>
        </p:txBody>
      </p:sp>
      <p:sp>
        <p:nvSpPr>
          <p:cNvPr id="15" name="Google Shape;15;p3"/>
          <p:cNvSpPr/>
          <p:nvPr/>
        </p:nvSpPr>
        <p:spPr>
          <a:xfrm>
            <a:off x="6400800" y="365760"/>
            <a:ext cx="548640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1" lang="en-US" sz="1200">
                <a:solidFill>
                  <a:srgbClr val="6B7280"/>
                </a:solidFill>
                <a:latin typeface="Calibri"/>
                <a:ea typeface="Calibri"/>
                <a:cs typeface="Calibri"/>
                <a:sym typeface="Calibri"/>
              </a:rPr>
              <a:t>CAPSTONE PROJECT · 2026</a:t>
            </a:r>
            <a:endParaRPr sz="1200">
              <a:solidFill>
                <a:schemeClr val="dk1"/>
              </a:solidFill>
              <a:latin typeface="Calibri"/>
              <a:ea typeface="Calibri"/>
              <a:cs typeface="Calibri"/>
              <a:sym typeface="Calibri"/>
            </a:endParaRPr>
          </a:p>
        </p:txBody>
      </p:sp>
      <p:pic>
        <p:nvPicPr>
          <p:cNvPr descr="preencoded.png" id="16" name="Google Shape;16;p3"/>
          <p:cNvPicPr preferRelativeResize="0"/>
          <p:nvPr/>
        </p:nvPicPr>
        <p:blipFill rotWithShape="1">
          <a:blip r:embed="rId3">
            <a:alphaModFix/>
          </a:blip>
          <a:srcRect b="0" l="0" r="0" t="0"/>
          <a:stretch/>
        </p:blipFill>
        <p:spPr>
          <a:xfrm>
            <a:off x="731520" y="1828800"/>
            <a:ext cx="1463040" cy="1463040"/>
          </a:xfrm>
          <a:prstGeom prst="rect">
            <a:avLst/>
          </a:prstGeom>
          <a:noFill/>
          <a:ln>
            <a:noFill/>
          </a:ln>
        </p:spPr>
      </p:pic>
      <p:sp>
        <p:nvSpPr>
          <p:cNvPr id="17" name="Google Shape;17;p3"/>
          <p:cNvSpPr/>
          <p:nvPr/>
        </p:nvSpPr>
        <p:spPr>
          <a:xfrm>
            <a:off x="2468880" y="1737360"/>
            <a:ext cx="9144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6400"/>
              <a:buFont typeface="Calibri"/>
              <a:buNone/>
            </a:pPr>
            <a:r>
              <a:rPr b="1" lang="en-US" sz="6400">
                <a:solidFill>
                  <a:srgbClr val="1F2937"/>
                </a:solidFill>
                <a:latin typeface="Calibri"/>
                <a:ea typeface="Calibri"/>
                <a:cs typeface="Calibri"/>
                <a:sym typeface="Calibri"/>
              </a:rPr>
              <a:t>Cairo Smart Traffic</a:t>
            </a:r>
            <a:endParaRPr sz="6400">
              <a:solidFill>
                <a:schemeClr val="dk1"/>
              </a:solidFill>
              <a:latin typeface="Calibri"/>
              <a:ea typeface="Calibri"/>
              <a:cs typeface="Calibri"/>
              <a:sym typeface="Calibri"/>
            </a:endParaRPr>
          </a:p>
        </p:txBody>
      </p:sp>
      <p:sp>
        <p:nvSpPr>
          <p:cNvPr id="18" name="Google Shape;18;p3"/>
          <p:cNvSpPr/>
          <p:nvPr/>
        </p:nvSpPr>
        <p:spPr>
          <a:xfrm>
            <a:off x="2468880" y="2834640"/>
            <a:ext cx="640080"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3"/>
          <p:cNvSpPr/>
          <p:nvPr/>
        </p:nvSpPr>
        <p:spPr>
          <a:xfrm>
            <a:off x="2468880" y="2971800"/>
            <a:ext cx="9144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AB7D"/>
              </a:buClr>
              <a:buSzPts val="2800"/>
              <a:buFont typeface="Calibri"/>
              <a:buNone/>
            </a:pPr>
            <a:r>
              <a:rPr lang="en-US" sz="2800">
                <a:solidFill>
                  <a:srgbClr val="0FAB7D"/>
                </a:solidFill>
                <a:latin typeface="Calibri"/>
                <a:ea typeface="Calibri"/>
                <a:cs typeface="Calibri"/>
                <a:sym typeface="Calibri"/>
              </a:rPr>
              <a:t>Real-Time AI Monitoring System</a:t>
            </a:r>
            <a:endParaRPr sz="2800">
              <a:solidFill>
                <a:schemeClr val="dk1"/>
              </a:solidFill>
              <a:latin typeface="Calibri"/>
              <a:ea typeface="Calibri"/>
              <a:cs typeface="Calibri"/>
              <a:sym typeface="Calibri"/>
            </a:endParaRPr>
          </a:p>
        </p:txBody>
      </p:sp>
      <p:sp>
        <p:nvSpPr>
          <p:cNvPr id="20" name="Google Shape;20;p3"/>
          <p:cNvSpPr/>
          <p:nvPr/>
        </p:nvSpPr>
        <p:spPr>
          <a:xfrm>
            <a:off x="2468880" y="361188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800"/>
              <a:buFont typeface="Calibri"/>
              <a:buNone/>
            </a:pPr>
            <a:r>
              <a:rPr i="1" lang="en-US" sz="1800">
                <a:solidFill>
                  <a:srgbClr val="6B7280"/>
                </a:solidFill>
                <a:latin typeface="Calibri"/>
                <a:ea typeface="Calibri"/>
                <a:cs typeface="Calibri"/>
                <a:sym typeface="Calibri"/>
              </a:rPr>
              <a:t>End-to-end data engineering for urban mobility intelligence</a:t>
            </a:r>
            <a:endParaRPr sz="1800">
              <a:solidFill>
                <a:schemeClr val="dk1"/>
              </a:solidFill>
              <a:latin typeface="Calibri"/>
              <a:ea typeface="Calibri"/>
              <a:cs typeface="Calibri"/>
              <a:sym typeface="Calibri"/>
            </a:endParaRPr>
          </a:p>
        </p:txBody>
      </p:sp>
      <p:sp>
        <p:nvSpPr>
          <p:cNvPr id="21" name="Google Shape;21;p3"/>
          <p:cNvSpPr/>
          <p:nvPr/>
        </p:nvSpPr>
        <p:spPr>
          <a:xfrm>
            <a:off x="731520" y="4572000"/>
            <a:ext cx="10698480" cy="12801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731520" y="4572000"/>
            <a:ext cx="1069848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3"/>
          <p:cNvSpPr/>
          <p:nvPr/>
        </p:nvSpPr>
        <p:spPr>
          <a:xfrm>
            <a:off x="1005840" y="480060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PRESENTED BY</a:t>
            </a:r>
            <a:endParaRPr sz="1100">
              <a:solidFill>
                <a:schemeClr val="dk1"/>
              </a:solidFill>
              <a:latin typeface="Calibri"/>
              <a:ea typeface="Calibri"/>
              <a:cs typeface="Calibri"/>
              <a:sym typeface="Calibri"/>
            </a:endParaRPr>
          </a:p>
        </p:txBody>
      </p:sp>
      <p:sp>
        <p:nvSpPr>
          <p:cNvPr id="24" name="Google Shape;24;p3"/>
          <p:cNvSpPr/>
          <p:nvPr/>
        </p:nvSpPr>
        <p:spPr>
          <a:xfrm>
            <a:off x="1005840" y="5074920"/>
            <a:ext cx="5760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Shahd · Omnya · Abdelrahman · Ebtihal · Aya</a:t>
            </a:r>
            <a:endParaRPr sz="1600">
              <a:solidFill>
                <a:schemeClr val="dk1"/>
              </a:solidFill>
              <a:latin typeface="Calibri"/>
              <a:ea typeface="Calibri"/>
              <a:cs typeface="Calibri"/>
              <a:sym typeface="Calibri"/>
            </a:endParaRPr>
          </a:p>
        </p:txBody>
      </p:sp>
      <p:sp>
        <p:nvSpPr>
          <p:cNvPr id="25" name="Google Shape;25;p3"/>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3"/>
          <p:cNvSpPr/>
          <p:nvPr/>
        </p:nvSpPr>
        <p:spPr>
          <a:xfrm>
            <a:off x="0" y="5669280"/>
            <a:ext cx="12191695" cy="1188720"/>
          </a:xfrm>
          <a:prstGeom prst="rect">
            <a:avLst/>
          </a:prstGeom>
          <a:solidFill>
            <a:srgbClr val="047954">
              <a:alpha val="784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3"/>
          <p:cNvSpPr/>
          <p:nvPr/>
        </p:nvSpPr>
        <p:spPr>
          <a:xfrm>
            <a:off x="548640" y="36576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7954"/>
              </a:buClr>
              <a:buSzPts val="1200"/>
              <a:buFont typeface="Calibri"/>
              <a:buNone/>
            </a:pPr>
            <a:r>
              <a:rPr b="1" lang="en-US" sz="1200">
                <a:solidFill>
                  <a:srgbClr val="047954"/>
                </a:solidFill>
                <a:latin typeface="Calibri"/>
                <a:ea typeface="Calibri"/>
                <a:cs typeface="Calibri"/>
                <a:sym typeface="Calibri"/>
              </a:rPr>
              <a:t>DEPI · DATA ENGINEERING TRACK</a:t>
            </a:r>
            <a:endParaRPr sz="1200">
              <a:solidFill>
                <a:schemeClr val="dk1"/>
              </a:solidFill>
              <a:latin typeface="Calibri"/>
              <a:ea typeface="Calibri"/>
              <a:cs typeface="Calibri"/>
              <a:sym typeface="Calibri"/>
            </a:endParaRPr>
          </a:p>
        </p:txBody>
      </p:sp>
      <p:sp>
        <p:nvSpPr>
          <p:cNvPr id="28" name="Google Shape;28;p3"/>
          <p:cNvSpPr/>
          <p:nvPr/>
        </p:nvSpPr>
        <p:spPr>
          <a:xfrm>
            <a:off x="6400800" y="365760"/>
            <a:ext cx="548640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1" lang="en-US" sz="1200">
                <a:solidFill>
                  <a:srgbClr val="6B7280"/>
                </a:solidFill>
                <a:latin typeface="Calibri"/>
                <a:ea typeface="Calibri"/>
                <a:cs typeface="Calibri"/>
                <a:sym typeface="Calibri"/>
              </a:rPr>
              <a:t>CAPSTONE PROJECT · 2026</a:t>
            </a:r>
            <a:endParaRPr sz="1200">
              <a:solidFill>
                <a:schemeClr val="dk1"/>
              </a:solidFill>
              <a:latin typeface="Calibri"/>
              <a:ea typeface="Calibri"/>
              <a:cs typeface="Calibri"/>
              <a:sym typeface="Calibri"/>
            </a:endParaRPr>
          </a:p>
        </p:txBody>
      </p:sp>
      <p:pic>
        <p:nvPicPr>
          <p:cNvPr descr="preencoded.png" id="29" name="Google Shape;29;p3"/>
          <p:cNvPicPr preferRelativeResize="0"/>
          <p:nvPr/>
        </p:nvPicPr>
        <p:blipFill rotWithShape="1">
          <a:blip r:embed="rId3">
            <a:alphaModFix/>
          </a:blip>
          <a:srcRect b="0" l="0" r="0" t="0"/>
          <a:stretch/>
        </p:blipFill>
        <p:spPr>
          <a:xfrm>
            <a:off x="731520" y="1828800"/>
            <a:ext cx="1463040" cy="1463040"/>
          </a:xfrm>
          <a:prstGeom prst="rect">
            <a:avLst/>
          </a:prstGeom>
          <a:noFill/>
          <a:ln>
            <a:noFill/>
          </a:ln>
        </p:spPr>
      </p:pic>
      <p:sp>
        <p:nvSpPr>
          <p:cNvPr id="30" name="Google Shape;30;p3"/>
          <p:cNvSpPr/>
          <p:nvPr/>
        </p:nvSpPr>
        <p:spPr>
          <a:xfrm>
            <a:off x="2468880" y="1737360"/>
            <a:ext cx="91440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6400"/>
              <a:buFont typeface="Calibri"/>
              <a:buNone/>
            </a:pPr>
            <a:r>
              <a:rPr b="1" lang="en-US" sz="6400">
                <a:solidFill>
                  <a:srgbClr val="1F2937"/>
                </a:solidFill>
                <a:latin typeface="Calibri"/>
                <a:ea typeface="Calibri"/>
                <a:cs typeface="Calibri"/>
                <a:sym typeface="Calibri"/>
              </a:rPr>
              <a:t>Cairo Smart Traffic</a:t>
            </a:r>
            <a:endParaRPr sz="6400">
              <a:solidFill>
                <a:schemeClr val="dk1"/>
              </a:solidFill>
              <a:latin typeface="Calibri"/>
              <a:ea typeface="Calibri"/>
              <a:cs typeface="Calibri"/>
              <a:sym typeface="Calibri"/>
            </a:endParaRPr>
          </a:p>
        </p:txBody>
      </p:sp>
      <p:sp>
        <p:nvSpPr>
          <p:cNvPr id="31" name="Google Shape;31;p3"/>
          <p:cNvSpPr/>
          <p:nvPr/>
        </p:nvSpPr>
        <p:spPr>
          <a:xfrm>
            <a:off x="2468880" y="2834640"/>
            <a:ext cx="640080"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3"/>
          <p:cNvSpPr/>
          <p:nvPr/>
        </p:nvSpPr>
        <p:spPr>
          <a:xfrm>
            <a:off x="2468880" y="2971800"/>
            <a:ext cx="9144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AB7D"/>
              </a:buClr>
              <a:buSzPts val="2800"/>
              <a:buFont typeface="Calibri"/>
              <a:buNone/>
            </a:pPr>
            <a:r>
              <a:rPr lang="en-US" sz="2800">
                <a:solidFill>
                  <a:srgbClr val="0FAB7D"/>
                </a:solidFill>
                <a:latin typeface="Calibri"/>
                <a:ea typeface="Calibri"/>
                <a:cs typeface="Calibri"/>
                <a:sym typeface="Calibri"/>
              </a:rPr>
              <a:t>Real-Time AI Monitoring System</a:t>
            </a:r>
            <a:endParaRPr sz="2800">
              <a:solidFill>
                <a:schemeClr val="dk1"/>
              </a:solidFill>
              <a:latin typeface="Calibri"/>
              <a:ea typeface="Calibri"/>
              <a:cs typeface="Calibri"/>
              <a:sym typeface="Calibri"/>
            </a:endParaRPr>
          </a:p>
        </p:txBody>
      </p:sp>
      <p:sp>
        <p:nvSpPr>
          <p:cNvPr id="33" name="Google Shape;33;p3"/>
          <p:cNvSpPr/>
          <p:nvPr/>
        </p:nvSpPr>
        <p:spPr>
          <a:xfrm>
            <a:off x="2468880" y="361188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800"/>
              <a:buFont typeface="Calibri"/>
              <a:buNone/>
            </a:pPr>
            <a:r>
              <a:rPr i="1" lang="en-US" sz="1800">
                <a:solidFill>
                  <a:srgbClr val="6B7280"/>
                </a:solidFill>
                <a:latin typeface="Calibri"/>
                <a:ea typeface="Calibri"/>
                <a:cs typeface="Calibri"/>
                <a:sym typeface="Calibri"/>
              </a:rPr>
              <a:t>End-to-end data engineering for urban mobility intelligence</a:t>
            </a:r>
            <a:endParaRPr sz="1800">
              <a:solidFill>
                <a:schemeClr val="dk1"/>
              </a:solidFill>
              <a:latin typeface="Calibri"/>
              <a:ea typeface="Calibri"/>
              <a:cs typeface="Calibri"/>
              <a:sym typeface="Calibri"/>
            </a:endParaRPr>
          </a:p>
        </p:txBody>
      </p:sp>
      <p:sp>
        <p:nvSpPr>
          <p:cNvPr id="34" name="Google Shape;34;p3"/>
          <p:cNvSpPr/>
          <p:nvPr/>
        </p:nvSpPr>
        <p:spPr>
          <a:xfrm>
            <a:off x="731520" y="4572000"/>
            <a:ext cx="10698480" cy="12801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3"/>
          <p:cNvSpPr/>
          <p:nvPr/>
        </p:nvSpPr>
        <p:spPr>
          <a:xfrm>
            <a:off x="731520" y="4572000"/>
            <a:ext cx="1069848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1005840" y="480060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PRESENTED BY</a:t>
            </a:r>
            <a:endParaRPr sz="1100">
              <a:solidFill>
                <a:schemeClr val="dk1"/>
              </a:solidFill>
              <a:latin typeface="Calibri"/>
              <a:ea typeface="Calibri"/>
              <a:cs typeface="Calibri"/>
              <a:sym typeface="Calibri"/>
            </a:endParaRPr>
          </a:p>
        </p:txBody>
      </p:sp>
      <p:sp>
        <p:nvSpPr>
          <p:cNvPr id="37" name="Google Shape;37;p3"/>
          <p:cNvSpPr/>
          <p:nvPr/>
        </p:nvSpPr>
        <p:spPr>
          <a:xfrm>
            <a:off x="1005840" y="5074920"/>
            <a:ext cx="57607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Shahd · Omnya · Abdelrahman · Ebtihal · Aya</a:t>
            </a:r>
            <a:endParaRPr sz="1600">
              <a:solidFill>
                <a:schemeClr val="dk1"/>
              </a:solidFill>
              <a:latin typeface="Calibri"/>
              <a:ea typeface="Calibri"/>
              <a:cs typeface="Calibri"/>
              <a:sym typeface="Calibri"/>
            </a:endParaRPr>
          </a:p>
        </p:txBody>
      </p:sp>
      <p:sp>
        <p:nvSpPr>
          <p:cNvPr id="38" name="Google Shape;38;p3"/>
          <p:cNvSpPr/>
          <p:nvPr/>
        </p:nvSpPr>
        <p:spPr>
          <a:xfrm>
            <a:off x="6858000" y="4846320"/>
            <a:ext cx="18288" cy="77724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3"/>
          <p:cNvSpPr/>
          <p:nvPr/>
        </p:nvSpPr>
        <p:spPr>
          <a:xfrm>
            <a:off x="7132320" y="480060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PRESENTATION DATE</a:t>
            </a:r>
            <a:endParaRPr sz="1100">
              <a:solidFill>
                <a:schemeClr val="dk1"/>
              </a:solidFill>
              <a:latin typeface="Calibri"/>
              <a:ea typeface="Calibri"/>
              <a:cs typeface="Calibri"/>
              <a:sym typeface="Calibri"/>
            </a:endParaRPr>
          </a:p>
        </p:txBody>
      </p:sp>
      <p:sp>
        <p:nvSpPr>
          <p:cNvPr id="40" name="Google Shape;40;p3"/>
          <p:cNvSpPr/>
          <p:nvPr/>
        </p:nvSpPr>
        <p:spPr>
          <a:xfrm>
            <a:off x="7132320" y="507492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2937"/>
              </a:buClr>
              <a:buSzPts val="2000"/>
              <a:buFont typeface="Calibri"/>
              <a:buNone/>
            </a:pPr>
            <a:r>
              <a:rPr b="1" lang="en-US" sz="2000">
                <a:solidFill>
                  <a:srgbClr val="1F2937"/>
                </a:solidFill>
                <a:latin typeface="Calibri"/>
                <a:ea typeface="Calibri"/>
                <a:cs typeface="Calibri"/>
                <a:sym typeface="Calibri"/>
              </a:rPr>
              <a:t>22 </a:t>
            </a:r>
            <a:r>
              <a:rPr b="1" lang="en-US" sz="2000">
                <a:solidFill>
                  <a:srgbClr val="1F2937"/>
                </a:solidFill>
                <a:latin typeface="Calibri"/>
                <a:ea typeface="Calibri"/>
                <a:cs typeface="Calibri"/>
                <a:sym typeface="Calibri"/>
              </a:rPr>
              <a:t>May 2026</a:t>
            </a:r>
            <a:endParaRPr sz="20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4"/>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2 / 12</a:t>
            </a:r>
            <a:endParaRPr sz="1000">
              <a:solidFill>
                <a:schemeClr val="dk1"/>
              </a:solidFill>
              <a:latin typeface="Calibri"/>
              <a:ea typeface="Calibri"/>
              <a:cs typeface="Calibri"/>
              <a:sym typeface="Calibri"/>
            </a:endParaRPr>
          </a:p>
        </p:txBody>
      </p:sp>
      <p:sp>
        <p:nvSpPr>
          <p:cNvPr id="48" name="Google Shape;48;p4"/>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Project Idea</a:t>
            </a:r>
            <a:endParaRPr sz="3200">
              <a:solidFill>
                <a:schemeClr val="dk1"/>
              </a:solidFill>
              <a:latin typeface="Calibri"/>
              <a:ea typeface="Calibri"/>
              <a:cs typeface="Calibri"/>
              <a:sym typeface="Calibri"/>
            </a:endParaRPr>
          </a:p>
        </p:txBody>
      </p:sp>
      <p:sp>
        <p:nvSpPr>
          <p:cNvPr id="49" name="Google Shape;49;p4"/>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The problem, our solution, and what makes it unique</a:t>
            </a:r>
            <a:endParaRPr sz="1400">
              <a:solidFill>
                <a:schemeClr val="dk1"/>
              </a:solidFill>
              <a:latin typeface="Calibri"/>
              <a:ea typeface="Calibri"/>
              <a:cs typeface="Calibri"/>
              <a:sym typeface="Calibri"/>
            </a:endParaRPr>
          </a:p>
        </p:txBody>
      </p:sp>
      <p:sp>
        <p:nvSpPr>
          <p:cNvPr id="50" name="Google Shape;50;p4"/>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457200" y="1737360"/>
            <a:ext cx="3611880" cy="42976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4"/>
          <p:cNvSpPr/>
          <p:nvPr/>
        </p:nvSpPr>
        <p:spPr>
          <a:xfrm>
            <a:off x="731520" y="2011680"/>
            <a:ext cx="640080" cy="64008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3" name="Google Shape;53;p4"/>
          <p:cNvPicPr preferRelativeResize="0"/>
          <p:nvPr/>
        </p:nvPicPr>
        <p:blipFill rotWithShape="1">
          <a:blip r:embed="rId3">
            <a:alphaModFix/>
          </a:blip>
          <a:srcRect b="0" l="0" r="0" t="0"/>
          <a:stretch/>
        </p:blipFill>
        <p:spPr>
          <a:xfrm>
            <a:off x="868680" y="2148840"/>
            <a:ext cx="365760" cy="365760"/>
          </a:xfrm>
          <a:prstGeom prst="rect">
            <a:avLst/>
          </a:prstGeom>
          <a:noFill/>
          <a:ln>
            <a:noFill/>
          </a:ln>
        </p:spPr>
      </p:pic>
      <p:sp>
        <p:nvSpPr>
          <p:cNvPr id="54" name="Google Shape;54;p4"/>
          <p:cNvSpPr/>
          <p:nvPr/>
        </p:nvSpPr>
        <p:spPr>
          <a:xfrm>
            <a:off x="1508760" y="208483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1" lang="en-US" sz="1200">
                <a:solidFill>
                  <a:srgbClr val="6B7280"/>
                </a:solidFill>
                <a:latin typeface="Calibri"/>
                <a:ea typeface="Calibri"/>
                <a:cs typeface="Calibri"/>
                <a:sym typeface="Calibri"/>
              </a:rPr>
              <a:t>THE PROBLEM</a:t>
            </a:r>
            <a:endParaRPr sz="1200">
              <a:solidFill>
                <a:schemeClr val="dk1"/>
              </a:solidFill>
              <a:latin typeface="Calibri"/>
              <a:ea typeface="Calibri"/>
              <a:cs typeface="Calibri"/>
              <a:sym typeface="Calibri"/>
            </a:endParaRPr>
          </a:p>
        </p:txBody>
      </p:sp>
      <p:sp>
        <p:nvSpPr>
          <p:cNvPr id="55" name="Google Shape;55;p4"/>
          <p:cNvSpPr/>
          <p:nvPr/>
        </p:nvSpPr>
        <p:spPr>
          <a:xfrm>
            <a:off x="1508760" y="2304288"/>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Cairo's traffic crisis</a:t>
            </a:r>
            <a:endParaRPr sz="1600">
              <a:solidFill>
                <a:schemeClr val="dk1"/>
              </a:solidFill>
              <a:latin typeface="Calibri"/>
              <a:ea typeface="Calibri"/>
              <a:cs typeface="Calibri"/>
              <a:sym typeface="Calibri"/>
            </a:endParaRPr>
          </a:p>
        </p:txBody>
      </p:sp>
      <p:sp>
        <p:nvSpPr>
          <p:cNvPr id="56" name="Google Shape;56;p4"/>
          <p:cNvSpPr/>
          <p:nvPr/>
        </p:nvSpPr>
        <p:spPr>
          <a:xfrm>
            <a:off x="685800" y="2880360"/>
            <a:ext cx="3200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Calibri"/>
              <a:buNone/>
            </a:pPr>
            <a:r>
              <a:rPr lang="en-US" sz="1300">
                <a:solidFill>
                  <a:srgbClr val="374151"/>
                </a:solidFill>
                <a:latin typeface="Calibri"/>
                <a:ea typeface="Calibri"/>
                <a:cs typeface="Calibri"/>
                <a:sym typeface="Calibri"/>
              </a:rPr>
              <a:t>Cairo's road network operates beyond capacity for most of the day. Traffic operators react after problems happen. Planners describe the past instead of predicting the future.</a:t>
            </a:r>
            <a:endParaRPr sz="1300">
              <a:solidFill>
                <a:schemeClr val="dk1"/>
              </a:solidFill>
              <a:latin typeface="Calibri"/>
              <a:ea typeface="Calibri"/>
              <a:cs typeface="Calibri"/>
              <a:sym typeface="Calibri"/>
            </a:endParaRPr>
          </a:p>
        </p:txBody>
      </p:sp>
      <p:sp>
        <p:nvSpPr>
          <p:cNvPr id="57" name="Google Shape;57;p4"/>
          <p:cNvSpPr/>
          <p:nvPr/>
        </p:nvSpPr>
        <p:spPr>
          <a:xfrm>
            <a:off x="685800" y="4480560"/>
            <a:ext cx="3200400" cy="1371600"/>
          </a:xfrm>
          <a:prstGeom prst="rect">
            <a:avLst/>
          </a:pr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777240" y="4572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3800"/>
              <a:buFont typeface="Calibri"/>
              <a:buNone/>
            </a:pPr>
            <a:r>
              <a:rPr b="1" lang="en-US" sz="3800">
                <a:solidFill>
                  <a:srgbClr val="D7B119"/>
                </a:solidFill>
                <a:latin typeface="Calibri"/>
                <a:ea typeface="Calibri"/>
                <a:cs typeface="Calibri"/>
                <a:sym typeface="Calibri"/>
              </a:rPr>
              <a:t>89.4%</a:t>
            </a:r>
            <a:endParaRPr sz="3800">
              <a:solidFill>
                <a:schemeClr val="dk1"/>
              </a:solidFill>
              <a:latin typeface="Calibri"/>
              <a:ea typeface="Calibri"/>
              <a:cs typeface="Calibri"/>
              <a:sym typeface="Calibri"/>
            </a:endParaRPr>
          </a:p>
        </p:txBody>
      </p:sp>
      <p:sp>
        <p:nvSpPr>
          <p:cNvPr id="59" name="Google Shape;59;p4"/>
          <p:cNvSpPr/>
          <p:nvPr/>
        </p:nvSpPr>
        <p:spPr>
          <a:xfrm>
            <a:off x="777240" y="516636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lang="en-US" sz="1100">
                <a:solidFill>
                  <a:srgbClr val="6B7280"/>
                </a:solidFill>
                <a:latin typeface="Calibri"/>
                <a:ea typeface="Calibri"/>
                <a:cs typeface="Calibri"/>
                <a:sym typeface="Calibri"/>
              </a:rPr>
              <a:t>Avg congestion ratio at peak hour</a:t>
            </a:r>
            <a:endParaRPr sz="1100">
              <a:solidFill>
                <a:schemeClr val="dk1"/>
              </a:solidFill>
              <a:latin typeface="Calibri"/>
              <a:ea typeface="Calibri"/>
              <a:cs typeface="Calibri"/>
              <a:sym typeface="Calibri"/>
            </a:endParaRPr>
          </a:p>
        </p:txBody>
      </p:sp>
      <p:sp>
        <p:nvSpPr>
          <p:cNvPr id="60" name="Google Shape;60;p4"/>
          <p:cNvSpPr/>
          <p:nvPr/>
        </p:nvSpPr>
        <p:spPr>
          <a:xfrm>
            <a:off x="777240" y="5440680"/>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00"/>
              <a:buFont typeface="Calibri"/>
              <a:buNone/>
            </a:pPr>
            <a:r>
              <a:rPr i="1" lang="en-US" sz="1000">
                <a:solidFill>
                  <a:srgbClr val="9CA3AF"/>
                </a:solidFill>
                <a:latin typeface="Calibri"/>
                <a:ea typeface="Calibri"/>
                <a:cs typeface="Calibri"/>
                <a:sym typeface="Calibri"/>
              </a:rPr>
              <a:t>9 km/h inner-city  ·  78 km/h highways</a:t>
            </a:r>
            <a:endParaRPr sz="1000">
              <a:solidFill>
                <a:schemeClr val="dk1"/>
              </a:solidFill>
              <a:latin typeface="Calibri"/>
              <a:ea typeface="Calibri"/>
              <a:cs typeface="Calibri"/>
              <a:sym typeface="Calibri"/>
            </a:endParaRPr>
          </a:p>
        </p:txBody>
      </p:sp>
      <p:sp>
        <p:nvSpPr>
          <p:cNvPr id="61" name="Google Shape;61;p4"/>
          <p:cNvSpPr/>
          <p:nvPr/>
        </p:nvSpPr>
        <p:spPr>
          <a:xfrm>
            <a:off x="4297680" y="1737360"/>
            <a:ext cx="3611880" cy="42976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4572000" y="2011680"/>
            <a:ext cx="640080" cy="64008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3" name="Google Shape;63;p4"/>
          <p:cNvPicPr preferRelativeResize="0"/>
          <p:nvPr/>
        </p:nvPicPr>
        <p:blipFill rotWithShape="1">
          <a:blip r:embed="rId4">
            <a:alphaModFix/>
          </a:blip>
          <a:srcRect b="0" l="0" r="0" t="0"/>
          <a:stretch/>
        </p:blipFill>
        <p:spPr>
          <a:xfrm>
            <a:off x="4709160" y="2148840"/>
            <a:ext cx="365760" cy="365760"/>
          </a:xfrm>
          <a:prstGeom prst="rect">
            <a:avLst/>
          </a:prstGeom>
          <a:noFill/>
          <a:ln>
            <a:noFill/>
          </a:ln>
        </p:spPr>
      </p:pic>
      <p:sp>
        <p:nvSpPr>
          <p:cNvPr id="64" name="Google Shape;64;p4"/>
          <p:cNvSpPr/>
          <p:nvPr/>
        </p:nvSpPr>
        <p:spPr>
          <a:xfrm>
            <a:off x="5349240" y="208483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1" lang="en-US" sz="1200">
                <a:solidFill>
                  <a:srgbClr val="6B7280"/>
                </a:solidFill>
                <a:latin typeface="Calibri"/>
                <a:ea typeface="Calibri"/>
                <a:cs typeface="Calibri"/>
                <a:sym typeface="Calibri"/>
              </a:rPr>
              <a:t>OUR SOLUTION</a:t>
            </a:r>
            <a:endParaRPr sz="1200">
              <a:solidFill>
                <a:schemeClr val="dk1"/>
              </a:solidFill>
              <a:latin typeface="Calibri"/>
              <a:ea typeface="Calibri"/>
              <a:cs typeface="Calibri"/>
              <a:sym typeface="Calibri"/>
            </a:endParaRPr>
          </a:p>
        </p:txBody>
      </p:sp>
      <p:sp>
        <p:nvSpPr>
          <p:cNvPr id="65" name="Google Shape;65;p4"/>
          <p:cNvSpPr/>
          <p:nvPr/>
        </p:nvSpPr>
        <p:spPr>
          <a:xfrm>
            <a:off x="5349240" y="2304288"/>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End-to-end platform</a:t>
            </a:r>
            <a:endParaRPr sz="1600">
              <a:solidFill>
                <a:schemeClr val="dk1"/>
              </a:solidFill>
              <a:latin typeface="Calibri"/>
              <a:ea typeface="Calibri"/>
              <a:cs typeface="Calibri"/>
              <a:sym typeface="Calibri"/>
            </a:endParaRPr>
          </a:p>
        </p:txBody>
      </p:sp>
      <p:sp>
        <p:nvSpPr>
          <p:cNvPr id="66" name="Google Shape;66;p4"/>
          <p:cNvSpPr/>
          <p:nvPr/>
        </p:nvSpPr>
        <p:spPr>
          <a:xfrm>
            <a:off x="4526280" y="2880360"/>
            <a:ext cx="32004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Calibri"/>
              <a:buNone/>
            </a:pPr>
            <a:r>
              <a:rPr lang="en-US" sz="1300">
                <a:solidFill>
                  <a:srgbClr val="374151"/>
                </a:solidFill>
                <a:latin typeface="Calibri"/>
                <a:ea typeface="Calibri"/>
                <a:cs typeface="Calibri"/>
                <a:sym typeface="Calibri"/>
              </a:rPr>
              <a:t>An integrated platform that ingests TomTom and OpenWeather data in real time, applies machine learning for classification and forecasting, generates AI insights via Gemini, and presents results in both an operations dashboard and Power BI analytics.</a:t>
            </a:r>
            <a:endParaRPr sz="1300">
              <a:solidFill>
                <a:schemeClr val="dk1"/>
              </a:solidFill>
              <a:latin typeface="Calibri"/>
              <a:ea typeface="Calibri"/>
              <a:cs typeface="Calibri"/>
              <a:sym typeface="Calibri"/>
            </a:endParaRPr>
          </a:p>
        </p:txBody>
      </p:sp>
      <p:sp>
        <p:nvSpPr>
          <p:cNvPr id="67" name="Google Shape;67;p4"/>
          <p:cNvSpPr/>
          <p:nvPr/>
        </p:nvSpPr>
        <p:spPr>
          <a:xfrm>
            <a:off x="4526280" y="4846320"/>
            <a:ext cx="1005840" cy="411480"/>
          </a:xfrm>
          <a:prstGeom prst="rect">
            <a:avLst/>
          </a:prstGeom>
          <a:solidFill>
            <a:srgbClr val="047954">
              <a:alpha val="10196"/>
            </a:srgbClr>
          </a:solidFill>
          <a:ln cap="flat" cmpd="sng" w="9525">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4526280" y="4846320"/>
            <a:ext cx="1005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000"/>
              <a:buFont typeface="Calibri"/>
              <a:buNone/>
            </a:pPr>
            <a:r>
              <a:rPr b="1" lang="en-US" sz="1000">
                <a:solidFill>
                  <a:srgbClr val="047954"/>
                </a:solidFill>
                <a:latin typeface="Calibri"/>
                <a:ea typeface="Calibri"/>
                <a:cs typeface="Calibri"/>
                <a:sym typeface="Calibri"/>
              </a:rPr>
              <a:t>Streaming</a:t>
            </a:r>
            <a:endParaRPr sz="1000">
              <a:solidFill>
                <a:schemeClr val="dk1"/>
              </a:solidFill>
              <a:latin typeface="Calibri"/>
              <a:ea typeface="Calibri"/>
              <a:cs typeface="Calibri"/>
              <a:sym typeface="Calibri"/>
            </a:endParaRPr>
          </a:p>
        </p:txBody>
      </p:sp>
      <p:sp>
        <p:nvSpPr>
          <p:cNvPr id="69" name="Google Shape;69;p4"/>
          <p:cNvSpPr/>
          <p:nvPr/>
        </p:nvSpPr>
        <p:spPr>
          <a:xfrm>
            <a:off x="5623560" y="4846320"/>
            <a:ext cx="1005840" cy="411480"/>
          </a:xfrm>
          <a:prstGeom prst="rect">
            <a:avLst/>
          </a:prstGeom>
          <a:solidFill>
            <a:srgbClr val="047954">
              <a:alpha val="10196"/>
            </a:srgbClr>
          </a:solidFill>
          <a:ln cap="flat" cmpd="sng" w="9525">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4"/>
          <p:cNvSpPr/>
          <p:nvPr/>
        </p:nvSpPr>
        <p:spPr>
          <a:xfrm>
            <a:off x="5623560" y="4846320"/>
            <a:ext cx="1005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000"/>
              <a:buFont typeface="Calibri"/>
              <a:buNone/>
            </a:pPr>
            <a:r>
              <a:rPr b="1" lang="en-US" sz="1000">
                <a:solidFill>
                  <a:srgbClr val="047954"/>
                </a:solidFill>
                <a:latin typeface="Calibri"/>
                <a:ea typeface="Calibri"/>
                <a:cs typeface="Calibri"/>
                <a:sym typeface="Calibri"/>
              </a:rPr>
              <a:t>ML</a:t>
            </a:r>
            <a:endParaRPr sz="1000">
              <a:solidFill>
                <a:schemeClr val="dk1"/>
              </a:solidFill>
              <a:latin typeface="Calibri"/>
              <a:ea typeface="Calibri"/>
              <a:cs typeface="Calibri"/>
              <a:sym typeface="Calibri"/>
            </a:endParaRPr>
          </a:p>
        </p:txBody>
      </p:sp>
      <p:sp>
        <p:nvSpPr>
          <p:cNvPr id="71" name="Google Shape;71;p4"/>
          <p:cNvSpPr/>
          <p:nvPr/>
        </p:nvSpPr>
        <p:spPr>
          <a:xfrm>
            <a:off x="6720840" y="4846320"/>
            <a:ext cx="1005840" cy="411480"/>
          </a:xfrm>
          <a:prstGeom prst="rect">
            <a:avLst/>
          </a:prstGeom>
          <a:solidFill>
            <a:srgbClr val="047954">
              <a:alpha val="10196"/>
            </a:srgbClr>
          </a:solidFill>
          <a:ln cap="flat" cmpd="sng" w="9525">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p:nvPr/>
        </p:nvSpPr>
        <p:spPr>
          <a:xfrm>
            <a:off x="6720840" y="4846320"/>
            <a:ext cx="1005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000"/>
              <a:buFont typeface="Calibri"/>
              <a:buNone/>
            </a:pPr>
            <a:r>
              <a:rPr b="1" lang="en-US" sz="1000">
                <a:solidFill>
                  <a:srgbClr val="047954"/>
                </a:solidFill>
                <a:latin typeface="Calibri"/>
                <a:ea typeface="Calibri"/>
                <a:cs typeface="Calibri"/>
                <a:sym typeface="Calibri"/>
              </a:rPr>
              <a:t>Forecasts</a:t>
            </a:r>
            <a:endParaRPr sz="1000">
              <a:solidFill>
                <a:schemeClr val="dk1"/>
              </a:solidFill>
              <a:latin typeface="Calibri"/>
              <a:ea typeface="Calibri"/>
              <a:cs typeface="Calibri"/>
              <a:sym typeface="Calibri"/>
            </a:endParaRPr>
          </a:p>
        </p:txBody>
      </p:sp>
      <p:sp>
        <p:nvSpPr>
          <p:cNvPr id="73" name="Google Shape;73;p4"/>
          <p:cNvSpPr/>
          <p:nvPr/>
        </p:nvSpPr>
        <p:spPr>
          <a:xfrm>
            <a:off x="4526280" y="5394960"/>
            <a:ext cx="1005840" cy="411480"/>
          </a:xfrm>
          <a:prstGeom prst="rect">
            <a:avLst/>
          </a:prstGeom>
          <a:solidFill>
            <a:srgbClr val="047954">
              <a:alpha val="10196"/>
            </a:srgbClr>
          </a:solidFill>
          <a:ln cap="flat" cmpd="sng" w="9525">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4"/>
          <p:cNvSpPr/>
          <p:nvPr/>
        </p:nvSpPr>
        <p:spPr>
          <a:xfrm>
            <a:off x="4526280" y="5394960"/>
            <a:ext cx="1005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000"/>
              <a:buFont typeface="Calibri"/>
              <a:buNone/>
            </a:pPr>
            <a:r>
              <a:rPr b="1" lang="en-US" sz="1000">
                <a:solidFill>
                  <a:srgbClr val="047954"/>
                </a:solidFill>
                <a:latin typeface="Calibri"/>
                <a:ea typeface="Calibri"/>
                <a:cs typeface="Calibri"/>
                <a:sym typeface="Calibri"/>
              </a:rPr>
              <a:t>AI Insights</a:t>
            </a:r>
            <a:endParaRPr sz="1000">
              <a:solidFill>
                <a:schemeClr val="dk1"/>
              </a:solidFill>
              <a:latin typeface="Calibri"/>
              <a:ea typeface="Calibri"/>
              <a:cs typeface="Calibri"/>
              <a:sym typeface="Calibri"/>
            </a:endParaRPr>
          </a:p>
        </p:txBody>
      </p:sp>
      <p:sp>
        <p:nvSpPr>
          <p:cNvPr id="75" name="Google Shape;75;p4"/>
          <p:cNvSpPr/>
          <p:nvPr/>
        </p:nvSpPr>
        <p:spPr>
          <a:xfrm>
            <a:off x="5623560" y="5394960"/>
            <a:ext cx="1005840" cy="411480"/>
          </a:xfrm>
          <a:prstGeom prst="rect">
            <a:avLst/>
          </a:prstGeom>
          <a:solidFill>
            <a:srgbClr val="047954">
              <a:alpha val="10196"/>
            </a:srgbClr>
          </a:solidFill>
          <a:ln cap="flat" cmpd="sng" w="9525">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p:nvPr/>
        </p:nvSpPr>
        <p:spPr>
          <a:xfrm>
            <a:off x="5623560" y="5394960"/>
            <a:ext cx="10058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000"/>
              <a:buFont typeface="Calibri"/>
              <a:buNone/>
            </a:pPr>
            <a:r>
              <a:rPr b="1" lang="en-US" sz="1000">
                <a:solidFill>
                  <a:srgbClr val="047954"/>
                </a:solidFill>
                <a:latin typeface="Calibri"/>
                <a:ea typeface="Calibri"/>
                <a:cs typeface="Calibri"/>
                <a:sym typeface="Calibri"/>
              </a:rPr>
              <a:t>Quality</a:t>
            </a:r>
            <a:endParaRPr sz="1000">
              <a:solidFill>
                <a:schemeClr val="dk1"/>
              </a:solidFill>
              <a:latin typeface="Calibri"/>
              <a:ea typeface="Calibri"/>
              <a:cs typeface="Calibri"/>
              <a:sym typeface="Calibri"/>
            </a:endParaRPr>
          </a:p>
        </p:txBody>
      </p:sp>
      <p:sp>
        <p:nvSpPr>
          <p:cNvPr id="77" name="Google Shape;77;p4"/>
          <p:cNvSpPr/>
          <p:nvPr/>
        </p:nvSpPr>
        <p:spPr>
          <a:xfrm>
            <a:off x="8138160" y="1737360"/>
            <a:ext cx="3611880" cy="42976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4"/>
          <p:cNvSpPr/>
          <p:nvPr/>
        </p:nvSpPr>
        <p:spPr>
          <a:xfrm>
            <a:off x="8412480" y="2011680"/>
            <a:ext cx="640080" cy="64008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9" name="Google Shape;79;p4"/>
          <p:cNvPicPr preferRelativeResize="0"/>
          <p:nvPr/>
        </p:nvPicPr>
        <p:blipFill rotWithShape="1">
          <a:blip r:embed="rId5">
            <a:alphaModFix/>
          </a:blip>
          <a:srcRect b="0" l="0" r="0" t="0"/>
          <a:stretch/>
        </p:blipFill>
        <p:spPr>
          <a:xfrm>
            <a:off x="8549640" y="2148840"/>
            <a:ext cx="365760" cy="365760"/>
          </a:xfrm>
          <a:prstGeom prst="rect">
            <a:avLst/>
          </a:prstGeom>
          <a:noFill/>
          <a:ln>
            <a:noFill/>
          </a:ln>
        </p:spPr>
      </p:pic>
      <p:sp>
        <p:nvSpPr>
          <p:cNvPr id="80" name="Google Shape;80;p4"/>
          <p:cNvSpPr/>
          <p:nvPr/>
        </p:nvSpPr>
        <p:spPr>
          <a:xfrm>
            <a:off x="9189720" y="2084832"/>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1" lang="en-US" sz="1200">
                <a:solidFill>
                  <a:srgbClr val="6B7280"/>
                </a:solidFill>
                <a:latin typeface="Calibri"/>
                <a:ea typeface="Calibri"/>
                <a:cs typeface="Calibri"/>
                <a:sym typeface="Calibri"/>
              </a:rPr>
              <a:t>UNIQUE VALUE</a:t>
            </a:r>
            <a:endParaRPr sz="1200">
              <a:solidFill>
                <a:schemeClr val="dk1"/>
              </a:solidFill>
              <a:latin typeface="Calibri"/>
              <a:ea typeface="Calibri"/>
              <a:cs typeface="Calibri"/>
              <a:sym typeface="Calibri"/>
            </a:endParaRPr>
          </a:p>
        </p:txBody>
      </p:sp>
      <p:sp>
        <p:nvSpPr>
          <p:cNvPr id="81" name="Google Shape;81;p4"/>
          <p:cNvSpPr/>
          <p:nvPr/>
        </p:nvSpPr>
        <p:spPr>
          <a:xfrm>
            <a:off x="9189720" y="2304288"/>
            <a:ext cx="2011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What sets us apart</a:t>
            </a:r>
            <a:endParaRPr sz="1600">
              <a:solidFill>
                <a:schemeClr val="dk1"/>
              </a:solidFill>
              <a:latin typeface="Calibri"/>
              <a:ea typeface="Calibri"/>
              <a:cs typeface="Calibri"/>
              <a:sym typeface="Calibri"/>
            </a:endParaRPr>
          </a:p>
        </p:txBody>
      </p:sp>
      <p:sp>
        <p:nvSpPr>
          <p:cNvPr id="82" name="Google Shape;82;p4"/>
          <p:cNvSpPr/>
          <p:nvPr/>
        </p:nvSpPr>
        <p:spPr>
          <a:xfrm>
            <a:off x="8366760" y="288036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300"/>
              <a:buFont typeface="Calibri"/>
              <a:buNone/>
            </a:pPr>
            <a:r>
              <a:rPr lang="en-US" sz="1300">
                <a:solidFill>
                  <a:srgbClr val="374151"/>
                </a:solidFill>
                <a:latin typeface="Calibri"/>
                <a:ea typeface="Calibri"/>
                <a:cs typeface="Calibri"/>
                <a:sym typeface="Calibri"/>
              </a:rPr>
              <a:t>Three things together :</a:t>
            </a:r>
            <a:endParaRPr sz="1300">
              <a:solidFill>
                <a:schemeClr val="dk1"/>
              </a:solidFill>
              <a:latin typeface="Calibri"/>
              <a:ea typeface="Calibri"/>
              <a:cs typeface="Calibri"/>
              <a:sym typeface="Calibri"/>
            </a:endParaRPr>
          </a:p>
        </p:txBody>
      </p:sp>
      <p:sp>
        <p:nvSpPr>
          <p:cNvPr id="83" name="Google Shape;83;p4"/>
          <p:cNvSpPr/>
          <p:nvPr/>
        </p:nvSpPr>
        <p:spPr>
          <a:xfrm>
            <a:off x="8366760" y="3566160"/>
            <a:ext cx="502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200"/>
              <a:buFont typeface="Calibri"/>
              <a:buNone/>
            </a:pPr>
            <a:r>
              <a:rPr b="1" lang="en-US" sz="2200">
                <a:solidFill>
                  <a:srgbClr val="D7B119"/>
                </a:solidFill>
                <a:latin typeface="Calibri"/>
                <a:ea typeface="Calibri"/>
                <a:cs typeface="Calibri"/>
                <a:sym typeface="Calibri"/>
              </a:rPr>
              <a:t>01</a:t>
            </a:r>
            <a:endParaRPr sz="2200">
              <a:solidFill>
                <a:schemeClr val="dk1"/>
              </a:solidFill>
              <a:latin typeface="Calibri"/>
              <a:ea typeface="Calibri"/>
              <a:cs typeface="Calibri"/>
              <a:sym typeface="Calibri"/>
            </a:endParaRPr>
          </a:p>
        </p:txBody>
      </p:sp>
      <p:sp>
        <p:nvSpPr>
          <p:cNvPr id="84" name="Google Shape;84;p4"/>
          <p:cNvSpPr/>
          <p:nvPr/>
        </p:nvSpPr>
        <p:spPr>
          <a:xfrm>
            <a:off x="8915400" y="3566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Real-time streaming ML</a:t>
            </a:r>
            <a:endParaRPr sz="1300">
              <a:solidFill>
                <a:schemeClr val="dk1"/>
              </a:solidFill>
              <a:latin typeface="Calibri"/>
              <a:ea typeface="Calibri"/>
              <a:cs typeface="Calibri"/>
              <a:sym typeface="Calibri"/>
            </a:endParaRPr>
          </a:p>
        </p:txBody>
      </p:sp>
      <p:sp>
        <p:nvSpPr>
          <p:cNvPr id="85" name="Google Shape;85;p4"/>
          <p:cNvSpPr/>
          <p:nvPr/>
        </p:nvSpPr>
        <p:spPr>
          <a:xfrm>
            <a:off x="8915400" y="385876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Sub-second latency</a:t>
            </a:r>
            <a:endParaRPr sz="1100">
              <a:solidFill>
                <a:schemeClr val="dk1"/>
              </a:solidFill>
              <a:latin typeface="Calibri"/>
              <a:ea typeface="Calibri"/>
              <a:cs typeface="Calibri"/>
              <a:sym typeface="Calibri"/>
            </a:endParaRPr>
          </a:p>
        </p:txBody>
      </p:sp>
      <p:sp>
        <p:nvSpPr>
          <p:cNvPr id="86" name="Google Shape;86;p4"/>
          <p:cNvSpPr/>
          <p:nvPr/>
        </p:nvSpPr>
        <p:spPr>
          <a:xfrm>
            <a:off x="8366760" y="4343400"/>
            <a:ext cx="502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200"/>
              <a:buFont typeface="Calibri"/>
              <a:buNone/>
            </a:pPr>
            <a:r>
              <a:rPr b="1" lang="en-US" sz="2200">
                <a:solidFill>
                  <a:srgbClr val="D7B119"/>
                </a:solidFill>
                <a:latin typeface="Calibri"/>
                <a:ea typeface="Calibri"/>
                <a:cs typeface="Calibri"/>
                <a:sym typeface="Calibri"/>
              </a:rPr>
              <a:t>02</a:t>
            </a:r>
            <a:endParaRPr sz="2200">
              <a:solidFill>
                <a:schemeClr val="dk1"/>
              </a:solidFill>
              <a:latin typeface="Calibri"/>
              <a:ea typeface="Calibri"/>
              <a:cs typeface="Calibri"/>
              <a:sym typeface="Calibri"/>
            </a:endParaRPr>
          </a:p>
        </p:txBody>
      </p:sp>
      <p:sp>
        <p:nvSpPr>
          <p:cNvPr id="87" name="Google Shape;87;p4"/>
          <p:cNvSpPr/>
          <p:nvPr/>
        </p:nvSpPr>
        <p:spPr>
          <a:xfrm>
            <a:off x="8915400" y="434340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Predictive forecasting</a:t>
            </a:r>
            <a:endParaRPr sz="1300">
              <a:solidFill>
                <a:schemeClr val="dk1"/>
              </a:solidFill>
              <a:latin typeface="Calibri"/>
              <a:ea typeface="Calibri"/>
              <a:cs typeface="Calibri"/>
              <a:sym typeface="Calibri"/>
            </a:endParaRPr>
          </a:p>
        </p:txBody>
      </p:sp>
      <p:sp>
        <p:nvSpPr>
          <p:cNvPr id="88" name="Google Shape;88;p4"/>
          <p:cNvSpPr/>
          <p:nvPr/>
        </p:nvSpPr>
        <p:spPr>
          <a:xfrm>
            <a:off x="8915400" y="463600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60 minutes ahead</a:t>
            </a:r>
            <a:endParaRPr sz="1100">
              <a:solidFill>
                <a:schemeClr val="dk1"/>
              </a:solidFill>
              <a:latin typeface="Calibri"/>
              <a:ea typeface="Calibri"/>
              <a:cs typeface="Calibri"/>
              <a:sym typeface="Calibri"/>
            </a:endParaRPr>
          </a:p>
        </p:txBody>
      </p:sp>
      <p:sp>
        <p:nvSpPr>
          <p:cNvPr id="89" name="Google Shape;89;p4"/>
          <p:cNvSpPr/>
          <p:nvPr/>
        </p:nvSpPr>
        <p:spPr>
          <a:xfrm>
            <a:off x="8366760" y="5120640"/>
            <a:ext cx="502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200"/>
              <a:buFont typeface="Calibri"/>
              <a:buNone/>
            </a:pPr>
            <a:r>
              <a:rPr b="1" lang="en-US" sz="2200">
                <a:solidFill>
                  <a:srgbClr val="D7B119"/>
                </a:solidFill>
                <a:latin typeface="Calibri"/>
                <a:ea typeface="Calibri"/>
                <a:cs typeface="Calibri"/>
                <a:sym typeface="Calibri"/>
              </a:rPr>
              <a:t>03</a:t>
            </a:r>
            <a:endParaRPr sz="2200">
              <a:solidFill>
                <a:schemeClr val="dk1"/>
              </a:solidFill>
              <a:latin typeface="Calibri"/>
              <a:ea typeface="Calibri"/>
              <a:cs typeface="Calibri"/>
              <a:sym typeface="Calibri"/>
            </a:endParaRPr>
          </a:p>
        </p:txBody>
      </p:sp>
      <p:sp>
        <p:nvSpPr>
          <p:cNvPr id="90" name="Google Shape;90;p4"/>
          <p:cNvSpPr/>
          <p:nvPr/>
        </p:nvSpPr>
        <p:spPr>
          <a:xfrm>
            <a:off x="8915400" y="51206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b="1" lang="en-US" sz="1300">
                <a:solidFill>
                  <a:srgbClr val="1F2937"/>
                </a:solidFill>
                <a:latin typeface="Calibri"/>
                <a:ea typeface="Calibri"/>
                <a:cs typeface="Calibri"/>
                <a:sym typeface="Calibri"/>
              </a:rPr>
              <a:t>AI natural-language insights</a:t>
            </a:r>
            <a:endParaRPr sz="1300">
              <a:solidFill>
                <a:schemeClr val="dk1"/>
              </a:solidFill>
              <a:latin typeface="Calibri"/>
              <a:ea typeface="Calibri"/>
              <a:cs typeface="Calibri"/>
              <a:sym typeface="Calibri"/>
            </a:endParaRPr>
          </a:p>
        </p:txBody>
      </p:sp>
      <p:sp>
        <p:nvSpPr>
          <p:cNvPr id="91" name="Google Shape;91;p4"/>
          <p:cNvSpPr/>
          <p:nvPr/>
        </p:nvSpPr>
        <p:spPr>
          <a:xfrm>
            <a:off x="8915400" y="541324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1" lang="en-US" sz="1100">
                <a:solidFill>
                  <a:srgbClr val="6B7280"/>
                </a:solidFill>
                <a:latin typeface="Calibri"/>
                <a:ea typeface="Calibri"/>
                <a:cs typeface="Calibri"/>
                <a:sym typeface="Calibri"/>
              </a:rPr>
              <a:t>Gemini summaries</a:t>
            </a:r>
            <a:endParaRPr sz="1100">
              <a:solidFill>
                <a:schemeClr val="dk1"/>
              </a:solidFill>
              <a:latin typeface="Calibri"/>
              <a:ea typeface="Calibri"/>
              <a:cs typeface="Calibri"/>
              <a:sym typeface="Calibri"/>
            </a:endParaRPr>
          </a:p>
        </p:txBody>
      </p:sp>
      <p:sp>
        <p:nvSpPr>
          <p:cNvPr id="92" name="Google Shape;92;p4"/>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5"/>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5"/>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3 / 12</a:t>
            </a:r>
            <a:endParaRPr sz="1000">
              <a:solidFill>
                <a:schemeClr val="dk1"/>
              </a:solidFill>
              <a:latin typeface="Calibri"/>
              <a:ea typeface="Calibri"/>
              <a:cs typeface="Calibri"/>
              <a:sym typeface="Calibri"/>
            </a:endParaRPr>
          </a:p>
        </p:txBody>
      </p:sp>
      <p:sp>
        <p:nvSpPr>
          <p:cNvPr id="100" name="Google Shape;100;p5"/>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
        <p:nvSpPr>
          <p:cNvPr id="101" name="Google Shape;101;p5"/>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Operations Dashboard</a:t>
            </a:r>
            <a:endParaRPr sz="3200">
              <a:solidFill>
                <a:schemeClr val="dk1"/>
              </a:solidFill>
              <a:latin typeface="Calibri"/>
              <a:ea typeface="Calibri"/>
              <a:cs typeface="Calibri"/>
              <a:sym typeface="Calibri"/>
            </a:endParaRPr>
          </a:p>
        </p:txBody>
      </p:sp>
      <p:sp>
        <p:nvSpPr>
          <p:cNvPr id="102" name="Google Shape;102;p5"/>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One pane of glass for Cairo traffic intelligence</a:t>
            </a:r>
            <a:endParaRPr sz="1400">
              <a:solidFill>
                <a:schemeClr val="dk1"/>
              </a:solidFill>
              <a:latin typeface="Calibri"/>
              <a:ea typeface="Calibri"/>
              <a:cs typeface="Calibri"/>
              <a:sym typeface="Calibri"/>
            </a:endParaRPr>
          </a:p>
        </p:txBody>
      </p:sp>
      <p:sp>
        <p:nvSpPr>
          <p:cNvPr id="103" name="Google Shape;103;p5"/>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5"/>
          <p:cNvSpPr/>
          <p:nvPr/>
        </p:nvSpPr>
        <p:spPr>
          <a:xfrm>
            <a:off x="457200" y="1645920"/>
            <a:ext cx="7498080" cy="4480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5"/>
          <p:cNvSpPr/>
          <p:nvPr/>
        </p:nvSpPr>
        <p:spPr>
          <a:xfrm>
            <a:off x="8229600" y="1645920"/>
            <a:ext cx="3520440" cy="4480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5"/>
          <p:cNvSpPr/>
          <p:nvPr/>
        </p:nvSpPr>
        <p:spPr>
          <a:xfrm>
            <a:off x="8229600" y="1645920"/>
            <a:ext cx="352044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5"/>
          <p:cNvSpPr/>
          <p:nvPr/>
        </p:nvSpPr>
        <p:spPr>
          <a:xfrm>
            <a:off x="8412480" y="17830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WHAT THE OPERATOR SEES</a:t>
            </a:r>
            <a:endParaRPr sz="1100">
              <a:solidFill>
                <a:schemeClr val="dk1"/>
              </a:solidFill>
              <a:latin typeface="Calibri"/>
              <a:ea typeface="Calibri"/>
              <a:cs typeface="Calibri"/>
              <a:sym typeface="Calibri"/>
            </a:endParaRPr>
          </a:p>
        </p:txBody>
      </p:sp>
      <p:sp>
        <p:nvSpPr>
          <p:cNvPr id="108" name="Google Shape;108;p5"/>
          <p:cNvSpPr/>
          <p:nvPr/>
        </p:nvSpPr>
        <p:spPr>
          <a:xfrm>
            <a:off x="8412480" y="2240280"/>
            <a:ext cx="365760" cy="36576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5"/>
          <p:cNvSpPr/>
          <p:nvPr/>
        </p:nvSpPr>
        <p:spPr>
          <a:xfrm>
            <a:off x="8412480" y="22402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110" name="Google Shape;110;p5"/>
          <p:cNvSpPr/>
          <p:nvPr/>
        </p:nvSpPr>
        <p:spPr>
          <a:xfrm>
            <a:off x="8869680" y="2240280"/>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1" lang="en-US" sz="1200">
                <a:solidFill>
                  <a:srgbClr val="1F2937"/>
                </a:solidFill>
                <a:latin typeface="Calibri"/>
                <a:ea typeface="Calibri"/>
                <a:cs typeface="Calibri"/>
                <a:sym typeface="Calibri"/>
              </a:rPr>
              <a:t>AI Summary Banner</a:t>
            </a:r>
            <a:endParaRPr sz="1200">
              <a:solidFill>
                <a:schemeClr val="dk1"/>
              </a:solidFill>
              <a:latin typeface="Calibri"/>
              <a:ea typeface="Calibri"/>
              <a:cs typeface="Calibri"/>
              <a:sym typeface="Calibri"/>
            </a:endParaRPr>
          </a:p>
        </p:txBody>
      </p:sp>
      <p:sp>
        <p:nvSpPr>
          <p:cNvPr id="111" name="Google Shape;111;p5"/>
          <p:cNvSpPr/>
          <p:nvPr/>
        </p:nvSpPr>
        <p:spPr>
          <a:xfrm>
            <a:off x="8869680" y="2487168"/>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Gemini insights every 5 min</a:t>
            </a:r>
            <a:endParaRPr sz="1000">
              <a:solidFill>
                <a:schemeClr val="dk1"/>
              </a:solidFill>
              <a:latin typeface="Calibri"/>
              <a:ea typeface="Calibri"/>
              <a:cs typeface="Calibri"/>
              <a:sym typeface="Calibri"/>
            </a:endParaRPr>
          </a:p>
        </p:txBody>
      </p:sp>
      <p:sp>
        <p:nvSpPr>
          <p:cNvPr id="112" name="Google Shape;112;p5"/>
          <p:cNvSpPr/>
          <p:nvPr/>
        </p:nvSpPr>
        <p:spPr>
          <a:xfrm>
            <a:off x="8412480" y="3017520"/>
            <a:ext cx="365760" cy="36576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5"/>
          <p:cNvSpPr/>
          <p:nvPr/>
        </p:nvSpPr>
        <p:spPr>
          <a:xfrm>
            <a:off x="8412480" y="30175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114" name="Google Shape;114;p5"/>
          <p:cNvSpPr/>
          <p:nvPr/>
        </p:nvSpPr>
        <p:spPr>
          <a:xfrm>
            <a:off x="8869680" y="3017520"/>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1" lang="en-US" sz="1200">
                <a:solidFill>
                  <a:srgbClr val="1F2937"/>
                </a:solidFill>
                <a:latin typeface="Calibri"/>
                <a:ea typeface="Calibri"/>
                <a:cs typeface="Calibri"/>
                <a:sym typeface="Calibri"/>
              </a:rPr>
              <a:t>Live Traffic Map</a:t>
            </a:r>
            <a:endParaRPr sz="1200">
              <a:solidFill>
                <a:schemeClr val="dk1"/>
              </a:solidFill>
              <a:latin typeface="Calibri"/>
              <a:ea typeface="Calibri"/>
              <a:cs typeface="Calibri"/>
              <a:sym typeface="Calibri"/>
            </a:endParaRPr>
          </a:p>
        </p:txBody>
      </p:sp>
      <p:sp>
        <p:nvSpPr>
          <p:cNvPr id="115" name="Google Shape;115;p5"/>
          <p:cNvSpPr/>
          <p:nvPr/>
        </p:nvSpPr>
        <p:spPr>
          <a:xfrm>
            <a:off x="8869680" y="3264408"/>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25 locations, 8 districts</a:t>
            </a:r>
            <a:endParaRPr sz="1000">
              <a:solidFill>
                <a:schemeClr val="dk1"/>
              </a:solidFill>
              <a:latin typeface="Calibri"/>
              <a:ea typeface="Calibri"/>
              <a:cs typeface="Calibri"/>
              <a:sym typeface="Calibri"/>
            </a:endParaRPr>
          </a:p>
        </p:txBody>
      </p:sp>
      <p:sp>
        <p:nvSpPr>
          <p:cNvPr id="116" name="Google Shape;116;p5"/>
          <p:cNvSpPr/>
          <p:nvPr/>
        </p:nvSpPr>
        <p:spPr>
          <a:xfrm>
            <a:off x="8412480" y="3794760"/>
            <a:ext cx="365760" cy="36576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5"/>
          <p:cNvSpPr/>
          <p:nvPr/>
        </p:nvSpPr>
        <p:spPr>
          <a:xfrm>
            <a:off x="8412480" y="37947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118" name="Google Shape;118;p5"/>
          <p:cNvSpPr/>
          <p:nvPr/>
        </p:nvSpPr>
        <p:spPr>
          <a:xfrm>
            <a:off x="8869680" y="3794760"/>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1" lang="en-US" sz="1200">
                <a:solidFill>
                  <a:srgbClr val="1F2937"/>
                </a:solidFill>
                <a:latin typeface="Calibri"/>
                <a:ea typeface="Calibri"/>
                <a:cs typeface="Calibri"/>
                <a:sym typeface="Calibri"/>
              </a:rPr>
              <a:t>Forecast Preview</a:t>
            </a:r>
            <a:endParaRPr sz="1200">
              <a:solidFill>
                <a:schemeClr val="dk1"/>
              </a:solidFill>
              <a:latin typeface="Calibri"/>
              <a:ea typeface="Calibri"/>
              <a:cs typeface="Calibri"/>
              <a:sym typeface="Calibri"/>
            </a:endParaRPr>
          </a:p>
        </p:txBody>
      </p:sp>
      <p:sp>
        <p:nvSpPr>
          <p:cNvPr id="119" name="Google Shape;119;p5"/>
          <p:cNvSpPr/>
          <p:nvPr/>
        </p:nvSpPr>
        <p:spPr>
          <a:xfrm>
            <a:off x="8869680" y="4041648"/>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Top 5 worsening roads</a:t>
            </a:r>
            <a:endParaRPr sz="1000">
              <a:solidFill>
                <a:schemeClr val="dk1"/>
              </a:solidFill>
              <a:latin typeface="Calibri"/>
              <a:ea typeface="Calibri"/>
              <a:cs typeface="Calibri"/>
              <a:sym typeface="Calibri"/>
            </a:endParaRPr>
          </a:p>
        </p:txBody>
      </p:sp>
      <p:sp>
        <p:nvSpPr>
          <p:cNvPr id="120" name="Google Shape;120;p5"/>
          <p:cNvSpPr/>
          <p:nvPr/>
        </p:nvSpPr>
        <p:spPr>
          <a:xfrm>
            <a:off x="8412480" y="4572000"/>
            <a:ext cx="365760" cy="365760"/>
          </a:xfrm>
          <a:prstGeom prst="ellipse">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5"/>
          <p:cNvSpPr/>
          <p:nvPr/>
        </p:nvSpPr>
        <p:spPr>
          <a:xfrm>
            <a:off x="8412480" y="457200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122" name="Google Shape;122;p5"/>
          <p:cNvSpPr/>
          <p:nvPr/>
        </p:nvSpPr>
        <p:spPr>
          <a:xfrm>
            <a:off x="8869680" y="4572000"/>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1" lang="en-US" sz="1200">
                <a:solidFill>
                  <a:srgbClr val="1F2937"/>
                </a:solidFill>
                <a:latin typeface="Calibri"/>
                <a:ea typeface="Calibri"/>
                <a:cs typeface="Calibri"/>
                <a:sym typeface="Calibri"/>
              </a:rPr>
              <a:t>Anomaly Feed</a:t>
            </a:r>
            <a:endParaRPr sz="1200">
              <a:solidFill>
                <a:schemeClr val="dk1"/>
              </a:solidFill>
              <a:latin typeface="Calibri"/>
              <a:ea typeface="Calibri"/>
              <a:cs typeface="Calibri"/>
              <a:sym typeface="Calibri"/>
            </a:endParaRPr>
          </a:p>
        </p:txBody>
      </p:sp>
      <p:sp>
        <p:nvSpPr>
          <p:cNvPr id="123" name="Google Shape;123;p5"/>
          <p:cNvSpPr/>
          <p:nvPr/>
        </p:nvSpPr>
        <p:spPr>
          <a:xfrm>
            <a:off x="8869680" y="4818888"/>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Real-time alerts</a:t>
            </a:r>
            <a:endParaRPr sz="1000">
              <a:solidFill>
                <a:schemeClr val="dk1"/>
              </a:solidFill>
              <a:latin typeface="Calibri"/>
              <a:ea typeface="Calibri"/>
              <a:cs typeface="Calibri"/>
              <a:sym typeface="Calibri"/>
            </a:endParaRPr>
          </a:p>
        </p:txBody>
      </p:sp>
      <p:sp>
        <p:nvSpPr>
          <p:cNvPr id="124" name="Google Shape;124;p5"/>
          <p:cNvSpPr/>
          <p:nvPr/>
        </p:nvSpPr>
        <p:spPr>
          <a:xfrm>
            <a:off x="8412480" y="5349240"/>
            <a:ext cx="365760" cy="36576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5"/>
          <p:cNvSpPr/>
          <p:nvPr/>
        </p:nvSpPr>
        <p:spPr>
          <a:xfrm>
            <a:off x="8412480" y="53492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5</a:t>
            </a:r>
            <a:endParaRPr sz="1300">
              <a:solidFill>
                <a:schemeClr val="dk1"/>
              </a:solidFill>
              <a:latin typeface="Calibri"/>
              <a:ea typeface="Calibri"/>
              <a:cs typeface="Calibri"/>
              <a:sym typeface="Calibri"/>
            </a:endParaRPr>
          </a:p>
        </p:txBody>
      </p:sp>
      <p:sp>
        <p:nvSpPr>
          <p:cNvPr id="126" name="Google Shape;126;p5"/>
          <p:cNvSpPr/>
          <p:nvPr/>
        </p:nvSpPr>
        <p:spPr>
          <a:xfrm>
            <a:off x="8869680" y="5349240"/>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b="1" lang="en-US" sz="1200">
                <a:solidFill>
                  <a:srgbClr val="1F2937"/>
                </a:solidFill>
                <a:latin typeface="Calibri"/>
                <a:ea typeface="Calibri"/>
                <a:cs typeface="Calibri"/>
                <a:sym typeface="Calibri"/>
              </a:rPr>
              <a:t>DQ Trust Badge</a:t>
            </a:r>
            <a:endParaRPr sz="1200">
              <a:solidFill>
                <a:schemeClr val="dk1"/>
              </a:solidFill>
              <a:latin typeface="Calibri"/>
              <a:ea typeface="Calibri"/>
              <a:cs typeface="Calibri"/>
              <a:sym typeface="Calibri"/>
            </a:endParaRPr>
          </a:p>
        </p:txBody>
      </p:sp>
      <p:sp>
        <p:nvSpPr>
          <p:cNvPr id="127" name="Google Shape;127;p5"/>
          <p:cNvSpPr/>
          <p:nvPr/>
        </p:nvSpPr>
        <p:spPr>
          <a:xfrm>
            <a:off x="8869680" y="5596128"/>
            <a:ext cx="2834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lang="en-US" sz="1000">
                <a:solidFill>
                  <a:srgbClr val="6B7280"/>
                </a:solidFill>
                <a:latin typeface="Calibri"/>
                <a:ea typeface="Calibri"/>
                <a:cs typeface="Calibri"/>
                <a:sym typeface="Calibri"/>
              </a:rPr>
              <a:t>Data quality score</a:t>
            </a:r>
            <a:endParaRPr sz="1000">
              <a:solidFill>
                <a:schemeClr val="dk1"/>
              </a:solidFill>
              <a:latin typeface="Calibri"/>
              <a:ea typeface="Calibri"/>
              <a:cs typeface="Calibri"/>
              <a:sym typeface="Calibri"/>
            </a:endParaRPr>
          </a:p>
        </p:txBody>
      </p:sp>
      <p:sp>
        <p:nvSpPr>
          <p:cNvPr id="128" name="Google Shape;128;p5"/>
          <p:cNvSpPr/>
          <p:nvPr/>
        </p:nvSpPr>
        <p:spPr>
          <a:xfrm>
            <a:off x="457200" y="6263640"/>
            <a:ext cx="11247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AB7D"/>
              </a:buClr>
              <a:buSzPts val="1100"/>
              <a:buFont typeface="Calibri"/>
              <a:buNone/>
            </a:pPr>
            <a:r>
              <a:rPr b="1" i="1" lang="en-US" sz="1100">
                <a:solidFill>
                  <a:srgbClr val="0FAB7D"/>
                </a:solidFill>
                <a:latin typeface="Calibri"/>
                <a:ea typeface="Calibri"/>
                <a:cs typeface="Calibri"/>
                <a:sym typeface="Calibri"/>
              </a:rPr>
              <a:t>User Journey:  Open dashboard  →  See current state instantly  →  Review predictions  →  Read AI explanation  →  Act</a:t>
            </a:r>
            <a:endParaRPr sz="1100">
              <a:solidFill>
                <a:schemeClr val="dk1"/>
              </a:solidFill>
              <a:latin typeface="Calibri"/>
              <a:ea typeface="Calibri"/>
              <a:cs typeface="Calibri"/>
              <a:sym typeface="Calibri"/>
            </a:endParaRPr>
          </a:p>
        </p:txBody>
      </p:sp>
      <p:pic>
        <p:nvPicPr>
          <p:cNvPr id="129" name="Google Shape;129;p5"/>
          <p:cNvPicPr preferRelativeResize="0"/>
          <p:nvPr/>
        </p:nvPicPr>
        <p:blipFill rotWithShape="1">
          <a:blip r:embed="rId3">
            <a:alphaModFix/>
          </a:blip>
          <a:srcRect b="0" l="0" r="0" t="0"/>
          <a:stretch/>
        </p:blipFill>
        <p:spPr>
          <a:xfrm>
            <a:off x="441961" y="1666451"/>
            <a:ext cx="7513320" cy="4480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p:nvPr/>
        </p:nvSpPr>
        <p:spPr>
          <a:xfrm>
            <a:off x="0" y="0"/>
            <a:ext cx="12191700" cy="13710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6"/>
          <p:cNvSpPr/>
          <p:nvPr/>
        </p:nvSpPr>
        <p:spPr>
          <a:xfrm>
            <a:off x="11430000" y="6492240"/>
            <a:ext cx="640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4</a:t>
            </a:r>
            <a:r>
              <a:rPr lang="en-US" sz="1000">
                <a:solidFill>
                  <a:srgbClr val="9CA3AF"/>
                </a:solidFill>
                <a:latin typeface="Calibri"/>
                <a:ea typeface="Calibri"/>
                <a:cs typeface="Calibri"/>
                <a:sym typeface="Calibri"/>
              </a:rPr>
              <a:t> / 12</a:t>
            </a:r>
            <a:endParaRPr sz="1000">
              <a:solidFill>
                <a:schemeClr val="dk1"/>
              </a:solidFill>
              <a:latin typeface="Calibri"/>
              <a:ea typeface="Calibri"/>
              <a:cs typeface="Calibri"/>
              <a:sym typeface="Calibri"/>
            </a:endParaRPr>
          </a:p>
        </p:txBody>
      </p:sp>
      <p:sp>
        <p:nvSpPr>
          <p:cNvPr id="136" name="Google Shape;136;p6"/>
          <p:cNvSpPr/>
          <p:nvPr/>
        </p:nvSpPr>
        <p:spPr>
          <a:xfrm>
            <a:off x="274320" y="6492240"/>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
        <p:nvSpPr>
          <p:cNvPr id="137" name="Google Shape;137;p6"/>
          <p:cNvSpPr/>
          <p:nvPr/>
        </p:nvSpPr>
        <p:spPr>
          <a:xfrm>
            <a:off x="640080" y="914400"/>
            <a:ext cx="10972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t/>
            </a:r>
            <a:endParaRPr sz="1400">
              <a:solidFill>
                <a:schemeClr val="dk1"/>
              </a:solidFill>
              <a:latin typeface="Calibri"/>
              <a:ea typeface="Calibri"/>
              <a:cs typeface="Calibri"/>
              <a:sym typeface="Calibri"/>
            </a:endParaRPr>
          </a:p>
        </p:txBody>
      </p:sp>
      <p:sp>
        <p:nvSpPr>
          <p:cNvPr id="138" name="Google Shape;138;p6"/>
          <p:cNvSpPr/>
          <p:nvPr/>
        </p:nvSpPr>
        <p:spPr>
          <a:xfrm>
            <a:off x="457200" y="365760"/>
            <a:ext cx="73200" cy="50280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6"/>
          <p:cNvSpPr/>
          <p:nvPr/>
        </p:nvSpPr>
        <p:spPr>
          <a:xfrm>
            <a:off x="640080" y="320040"/>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Architecture</a:t>
            </a:r>
            <a:endParaRPr sz="3200">
              <a:solidFill>
                <a:schemeClr val="dk1"/>
              </a:solidFill>
              <a:latin typeface="Calibri"/>
              <a:ea typeface="Calibri"/>
              <a:cs typeface="Calibri"/>
              <a:sym typeface="Calibri"/>
            </a:endParaRPr>
          </a:p>
        </p:txBody>
      </p:sp>
      <p:pic>
        <p:nvPicPr>
          <p:cNvPr id="140" name="Google Shape;140;p6" title="Project_architecture.png"/>
          <p:cNvPicPr preferRelativeResize="0"/>
          <p:nvPr/>
        </p:nvPicPr>
        <p:blipFill>
          <a:blip r:embed="rId3">
            <a:alphaModFix/>
          </a:blip>
          <a:stretch>
            <a:fillRect/>
          </a:stretch>
        </p:blipFill>
        <p:spPr>
          <a:xfrm>
            <a:off x="3436495" y="1143200"/>
            <a:ext cx="5318700" cy="531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7"/>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7"/>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5</a:t>
            </a:r>
            <a:r>
              <a:rPr lang="en-US" sz="1000">
                <a:solidFill>
                  <a:srgbClr val="9CA3AF"/>
                </a:solidFill>
                <a:latin typeface="Calibri"/>
                <a:ea typeface="Calibri"/>
                <a:cs typeface="Calibri"/>
                <a:sym typeface="Calibri"/>
              </a:rPr>
              <a:t> / 12</a:t>
            </a:r>
            <a:endParaRPr sz="1000">
              <a:solidFill>
                <a:schemeClr val="dk1"/>
              </a:solidFill>
              <a:latin typeface="Calibri"/>
              <a:ea typeface="Calibri"/>
              <a:cs typeface="Calibri"/>
              <a:sym typeface="Calibri"/>
            </a:endParaRPr>
          </a:p>
        </p:txBody>
      </p:sp>
      <p:sp>
        <p:nvSpPr>
          <p:cNvPr id="148" name="Google Shape;148;p7"/>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End Users &amp; Key Features</a:t>
            </a:r>
            <a:endParaRPr sz="3200">
              <a:solidFill>
                <a:schemeClr val="dk1"/>
              </a:solidFill>
              <a:latin typeface="Calibri"/>
              <a:ea typeface="Calibri"/>
              <a:cs typeface="Calibri"/>
              <a:sym typeface="Calibri"/>
            </a:endParaRPr>
          </a:p>
        </p:txBody>
      </p:sp>
      <p:sp>
        <p:nvSpPr>
          <p:cNvPr id="149" name="Google Shape;149;p7"/>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Three personas, three sets of features</a:t>
            </a:r>
            <a:endParaRPr sz="1400">
              <a:solidFill>
                <a:schemeClr val="dk1"/>
              </a:solidFill>
              <a:latin typeface="Calibri"/>
              <a:ea typeface="Calibri"/>
              <a:cs typeface="Calibri"/>
              <a:sym typeface="Calibri"/>
            </a:endParaRPr>
          </a:p>
        </p:txBody>
      </p:sp>
      <p:sp>
        <p:nvSpPr>
          <p:cNvPr id="150" name="Google Shape;150;p7"/>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457200" y="1645920"/>
            <a:ext cx="3657600" cy="45720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7"/>
          <p:cNvSpPr/>
          <p:nvPr/>
        </p:nvSpPr>
        <p:spPr>
          <a:xfrm>
            <a:off x="1828800" y="2011680"/>
            <a:ext cx="914400" cy="91440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3" name="Google Shape;153;p7"/>
          <p:cNvPicPr preferRelativeResize="0"/>
          <p:nvPr/>
        </p:nvPicPr>
        <p:blipFill rotWithShape="1">
          <a:blip r:embed="rId3">
            <a:alphaModFix/>
          </a:blip>
          <a:srcRect b="0" l="0" r="0" t="0"/>
          <a:stretch/>
        </p:blipFill>
        <p:spPr>
          <a:xfrm>
            <a:off x="2084832" y="2267712"/>
            <a:ext cx="411480" cy="411480"/>
          </a:xfrm>
          <a:prstGeom prst="rect">
            <a:avLst/>
          </a:prstGeom>
          <a:noFill/>
          <a:ln>
            <a:noFill/>
          </a:ln>
        </p:spPr>
      </p:pic>
      <p:sp>
        <p:nvSpPr>
          <p:cNvPr id="154" name="Google Shape;154;p7"/>
          <p:cNvSpPr/>
          <p:nvPr/>
        </p:nvSpPr>
        <p:spPr>
          <a:xfrm>
            <a:off x="457200" y="306324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200"/>
              <a:buFont typeface="Calibri"/>
              <a:buNone/>
            </a:pPr>
            <a:r>
              <a:rPr b="1" lang="en-US" sz="2200">
                <a:solidFill>
                  <a:srgbClr val="1F2937"/>
                </a:solidFill>
                <a:latin typeface="Calibri"/>
                <a:ea typeface="Calibri"/>
                <a:cs typeface="Calibri"/>
                <a:sym typeface="Calibri"/>
              </a:rPr>
              <a:t>Traffic Operator</a:t>
            </a:r>
            <a:endParaRPr sz="2200">
              <a:solidFill>
                <a:schemeClr val="dk1"/>
              </a:solidFill>
              <a:latin typeface="Calibri"/>
              <a:ea typeface="Calibri"/>
              <a:cs typeface="Calibri"/>
              <a:sym typeface="Calibri"/>
            </a:endParaRPr>
          </a:p>
        </p:txBody>
      </p:sp>
      <p:sp>
        <p:nvSpPr>
          <p:cNvPr id="155" name="Google Shape;155;p7"/>
          <p:cNvSpPr/>
          <p:nvPr/>
        </p:nvSpPr>
        <p:spPr>
          <a:xfrm>
            <a:off x="457200" y="3474720"/>
            <a:ext cx="3657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Real-time visibility and response</a:t>
            </a:r>
            <a:endParaRPr sz="1200">
              <a:solidFill>
                <a:schemeClr val="dk1"/>
              </a:solidFill>
              <a:latin typeface="Calibri"/>
              <a:ea typeface="Calibri"/>
              <a:cs typeface="Calibri"/>
              <a:sym typeface="Calibri"/>
            </a:endParaRPr>
          </a:p>
        </p:txBody>
      </p:sp>
      <p:sp>
        <p:nvSpPr>
          <p:cNvPr id="156" name="Google Shape;156;p7"/>
          <p:cNvSpPr/>
          <p:nvPr/>
        </p:nvSpPr>
        <p:spPr>
          <a:xfrm>
            <a:off x="1828800" y="3931920"/>
            <a:ext cx="914400" cy="36576"/>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7"/>
          <p:cNvSpPr/>
          <p:nvPr/>
        </p:nvSpPr>
        <p:spPr>
          <a:xfrm>
            <a:off x="822960" y="4160520"/>
            <a:ext cx="2926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b="1" lang="en-US" sz="1000">
                <a:solidFill>
                  <a:srgbClr val="6B7280"/>
                </a:solidFill>
                <a:latin typeface="Calibri"/>
                <a:ea typeface="Calibri"/>
                <a:cs typeface="Calibri"/>
                <a:sym typeface="Calibri"/>
              </a:rPr>
              <a:t>KEY FEATURES</a:t>
            </a:r>
            <a:endParaRPr sz="1000">
              <a:solidFill>
                <a:schemeClr val="dk1"/>
              </a:solidFill>
              <a:latin typeface="Calibri"/>
              <a:ea typeface="Calibri"/>
              <a:cs typeface="Calibri"/>
              <a:sym typeface="Calibri"/>
            </a:endParaRPr>
          </a:p>
        </p:txBody>
      </p:sp>
      <p:pic>
        <p:nvPicPr>
          <p:cNvPr descr="preencoded.png" id="158" name="Google Shape;158;p7"/>
          <p:cNvPicPr preferRelativeResize="0"/>
          <p:nvPr/>
        </p:nvPicPr>
        <p:blipFill rotWithShape="1">
          <a:blip r:embed="rId4">
            <a:alphaModFix/>
          </a:blip>
          <a:srcRect b="0" l="0" r="0" t="0"/>
          <a:stretch/>
        </p:blipFill>
        <p:spPr>
          <a:xfrm>
            <a:off x="914400" y="4572000"/>
            <a:ext cx="182880" cy="182880"/>
          </a:xfrm>
          <a:prstGeom prst="rect">
            <a:avLst/>
          </a:prstGeom>
          <a:noFill/>
          <a:ln>
            <a:noFill/>
          </a:ln>
        </p:spPr>
      </p:pic>
      <p:sp>
        <p:nvSpPr>
          <p:cNvPr id="159" name="Google Shape;159;p7"/>
          <p:cNvSpPr/>
          <p:nvPr/>
        </p:nvSpPr>
        <p:spPr>
          <a:xfrm>
            <a:off x="1188720" y="4526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Live map with 25 locations</a:t>
            </a:r>
            <a:endParaRPr sz="1200">
              <a:solidFill>
                <a:schemeClr val="dk1"/>
              </a:solidFill>
              <a:latin typeface="Calibri"/>
              <a:ea typeface="Calibri"/>
              <a:cs typeface="Calibri"/>
              <a:sym typeface="Calibri"/>
            </a:endParaRPr>
          </a:p>
        </p:txBody>
      </p:sp>
      <p:pic>
        <p:nvPicPr>
          <p:cNvPr descr="preencoded.png" id="160" name="Google Shape;160;p7"/>
          <p:cNvPicPr preferRelativeResize="0"/>
          <p:nvPr/>
        </p:nvPicPr>
        <p:blipFill rotWithShape="1">
          <a:blip r:embed="rId4">
            <a:alphaModFix/>
          </a:blip>
          <a:srcRect b="0" l="0" r="0" t="0"/>
          <a:stretch/>
        </p:blipFill>
        <p:spPr>
          <a:xfrm>
            <a:off x="914400" y="4956048"/>
            <a:ext cx="182880" cy="182880"/>
          </a:xfrm>
          <a:prstGeom prst="rect">
            <a:avLst/>
          </a:prstGeom>
          <a:noFill/>
          <a:ln>
            <a:noFill/>
          </a:ln>
        </p:spPr>
      </p:pic>
      <p:sp>
        <p:nvSpPr>
          <p:cNvPr id="161" name="Google Shape;161;p7"/>
          <p:cNvSpPr/>
          <p:nvPr/>
        </p:nvSpPr>
        <p:spPr>
          <a:xfrm>
            <a:off x="1188720" y="49103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Anomaly feed (Isolation Forest)</a:t>
            </a:r>
            <a:endParaRPr sz="1200">
              <a:solidFill>
                <a:schemeClr val="dk1"/>
              </a:solidFill>
              <a:latin typeface="Calibri"/>
              <a:ea typeface="Calibri"/>
              <a:cs typeface="Calibri"/>
              <a:sym typeface="Calibri"/>
            </a:endParaRPr>
          </a:p>
        </p:txBody>
      </p:sp>
      <p:pic>
        <p:nvPicPr>
          <p:cNvPr descr="preencoded.png" id="162" name="Google Shape;162;p7"/>
          <p:cNvPicPr preferRelativeResize="0"/>
          <p:nvPr/>
        </p:nvPicPr>
        <p:blipFill rotWithShape="1">
          <a:blip r:embed="rId4">
            <a:alphaModFix/>
          </a:blip>
          <a:srcRect b="0" l="0" r="0" t="0"/>
          <a:stretch/>
        </p:blipFill>
        <p:spPr>
          <a:xfrm>
            <a:off x="914400" y="5340096"/>
            <a:ext cx="182880" cy="182880"/>
          </a:xfrm>
          <a:prstGeom prst="rect">
            <a:avLst/>
          </a:prstGeom>
          <a:noFill/>
          <a:ln>
            <a:noFill/>
          </a:ln>
        </p:spPr>
      </p:pic>
      <p:sp>
        <p:nvSpPr>
          <p:cNvPr id="163" name="Google Shape;163;p7"/>
          <p:cNvSpPr/>
          <p:nvPr/>
        </p:nvSpPr>
        <p:spPr>
          <a:xfrm>
            <a:off x="1188720" y="5294376"/>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60-min forecast preview</a:t>
            </a:r>
            <a:endParaRPr sz="1200">
              <a:solidFill>
                <a:schemeClr val="dk1"/>
              </a:solidFill>
              <a:latin typeface="Calibri"/>
              <a:ea typeface="Calibri"/>
              <a:cs typeface="Calibri"/>
              <a:sym typeface="Calibri"/>
            </a:endParaRPr>
          </a:p>
        </p:txBody>
      </p:sp>
      <p:pic>
        <p:nvPicPr>
          <p:cNvPr descr="preencoded.png" id="164" name="Google Shape;164;p7"/>
          <p:cNvPicPr preferRelativeResize="0"/>
          <p:nvPr/>
        </p:nvPicPr>
        <p:blipFill rotWithShape="1">
          <a:blip r:embed="rId4">
            <a:alphaModFix/>
          </a:blip>
          <a:srcRect b="0" l="0" r="0" t="0"/>
          <a:stretch/>
        </p:blipFill>
        <p:spPr>
          <a:xfrm>
            <a:off x="914400" y="5724144"/>
            <a:ext cx="182880" cy="182880"/>
          </a:xfrm>
          <a:prstGeom prst="rect">
            <a:avLst/>
          </a:prstGeom>
          <a:noFill/>
          <a:ln>
            <a:noFill/>
          </a:ln>
        </p:spPr>
      </p:pic>
      <p:sp>
        <p:nvSpPr>
          <p:cNvPr id="165" name="Google Shape;165;p7"/>
          <p:cNvSpPr/>
          <p:nvPr/>
        </p:nvSpPr>
        <p:spPr>
          <a:xfrm>
            <a:off x="1188720" y="5678424"/>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AI summary every 5 min</a:t>
            </a:r>
            <a:endParaRPr sz="1200">
              <a:solidFill>
                <a:schemeClr val="dk1"/>
              </a:solidFill>
              <a:latin typeface="Calibri"/>
              <a:ea typeface="Calibri"/>
              <a:cs typeface="Calibri"/>
              <a:sym typeface="Calibri"/>
            </a:endParaRPr>
          </a:p>
        </p:txBody>
      </p:sp>
      <p:sp>
        <p:nvSpPr>
          <p:cNvPr id="166" name="Google Shape;166;p7"/>
          <p:cNvSpPr/>
          <p:nvPr/>
        </p:nvSpPr>
        <p:spPr>
          <a:xfrm>
            <a:off x="4389120" y="1645920"/>
            <a:ext cx="3657600" cy="45720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7"/>
          <p:cNvSpPr/>
          <p:nvPr/>
        </p:nvSpPr>
        <p:spPr>
          <a:xfrm>
            <a:off x="5760720" y="2011680"/>
            <a:ext cx="914400" cy="91440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8" name="Google Shape;168;p7"/>
          <p:cNvPicPr preferRelativeResize="0"/>
          <p:nvPr/>
        </p:nvPicPr>
        <p:blipFill rotWithShape="1">
          <a:blip r:embed="rId5">
            <a:alphaModFix/>
          </a:blip>
          <a:srcRect b="0" l="0" r="0" t="0"/>
          <a:stretch/>
        </p:blipFill>
        <p:spPr>
          <a:xfrm>
            <a:off x="6016752" y="2267712"/>
            <a:ext cx="411480" cy="411480"/>
          </a:xfrm>
          <a:prstGeom prst="rect">
            <a:avLst/>
          </a:prstGeom>
          <a:noFill/>
          <a:ln>
            <a:noFill/>
          </a:ln>
        </p:spPr>
      </p:pic>
      <p:sp>
        <p:nvSpPr>
          <p:cNvPr id="169" name="Google Shape;169;p7"/>
          <p:cNvSpPr/>
          <p:nvPr/>
        </p:nvSpPr>
        <p:spPr>
          <a:xfrm>
            <a:off x="4389120" y="306324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200"/>
              <a:buFont typeface="Calibri"/>
              <a:buNone/>
            </a:pPr>
            <a:r>
              <a:rPr b="1" lang="en-US" sz="2200">
                <a:solidFill>
                  <a:srgbClr val="1F2937"/>
                </a:solidFill>
                <a:latin typeface="Calibri"/>
                <a:ea typeface="Calibri"/>
                <a:cs typeface="Calibri"/>
                <a:sym typeface="Calibri"/>
              </a:rPr>
              <a:t>Data Analyst</a:t>
            </a:r>
            <a:endParaRPr sz="2200">
              <a:solidFill>
                <a:schemeClr val="dk1"/>
              </a:solidFill>
              <a:latin typeface="Calibri"/>
              <a:ea typeface="Calibri"/>
              <a:cs typeface="Calibri"/>
              <a:sym typeface="Calibri"/>
            </a:endParaRPr>
          </a:p>
        </p:txBody>
      </p:sp>
      <p:sp>
        <p:nvSpPr>
          <p:cNvPr id="170" name="Google Shape;170;p7"/>
          <p:cNvSpPr/>
          <p:nvPr/>
        </p:nvSpPr>
        <p:spPr>
          <a:xfrm>
            <a:off x="4389120" y="3474720"/>
            <a:ext cx="3657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Historical patterns and KPIs</a:t>
            </a:r>
            <a:endParaRPr sz="1200">
              <a:solidFill>
                <a:schemeClr val="dk1"/>
              </a:solidFill>
              <a:latin typeface="Calibri"/>
              <a:ea typeface="Calibri"/>
              <a:cs typeface="Calibri"/>
              <a:sym typeface="Calibri"/>
            </a:endParaRPr>
          </a:p>
        </p:txBody>
      </p:sp>
      <p:sp>
        <p:nvSpPr>
          <p:cNvPr id="171" name="Google Shape;171;p7"/>
          <p:cNvSpPr/>
          <p:nvPr/>
        </p:nvSpPr>
        <p:spPr>
          <a:xfrm>
            <a:off x="5760720" y="3931920"/>
            <a:ext cx="914400" cy="36576"/>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7"/>
          <p:cNvSpPr/>
          <p:nvPr/>
        </p:nvSpPr>
        <p:spPr>
          <a:xfrm>
            <a:off x="4754880" y="4160520"/>
            <a:ext cx="2926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b="1" lang="en-US" sz="1000">
                <a:solidFill>
                  <a:srgbClr val="6B7280"/>
                </a:solidFill>
                <a:latin typeface="Calibri"/>
                <a:ea typeface="Calibri"/>
                <a:cs typeface="Calibri"/>
                <a:sym typeface="Calibri"/>
              </a:rPr>
              <a:t>KEY FEATURES</a:t>
            </a:r>
            <a:endParaRPr sz="1000">
              <a:solidFill>
                <a:schemeClr val="dk1"/>
              </a:solidFill>
              <a:latin typeface="Calibri"/>
              <a:ea typeface="Calibri"/>
              <a:cs typeface="Calibri"/>
              <a:sym typeface="Calibri"/>
            </a:endParaRPr>
          </a:p>
        </p:txBody>
      </p:sp>
      <p:pic>
        <p:nvPicPr>
          <p:cNvPr descr="preencoded.png" id="173" name="Google Shape;173;p7"/>
          <p:cNvPicPr preferRelativeResize="0"/>
          <p:nvPr/>
        </p:nvPicPr>
        <p:blipFill rotWithShape="1">
          <a:blip r:embed="rId4">
            <a:alphaModFix/>
          </a:blip>
          <a:srcRect b="0" l="0" r="0" t="0"/>
          <a:stretch/>
        </p:blipFill>
        <p:spPr>
          <a:xfrm>
            <a:off x="4846320" y="4572000"/>
            <a:ext cx="182880" cy="182880"/>
          </a:xfrm>
          <a:prstGeom prst="rect">
            <a:avLst/>
          </a:prstGeom>
          <a:noFill/>
          <a:ln>
            <a:noFill/>
          </a:ln>
        </p:spPr>
      </p:pic>
      <p:sp>
        <p:nvSpPr>
          <p:cNvPr id="174" name="Google Shape;174;p7"/>
          <p:cNvSpPr/>
          <p:nvPr/>
        </p:nvSpPr>
        <p:spPr>
          <a:xfrm>
            <a:off x="5120640" y="4526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Power BI dashboard (13 visuals)</a:t>
            </a:r>
            <a:endParaRPr sz="1200">
              <a:solidFill>
                <a:schemeClr val="dk1"/>
              </a:solidFill>
              <a:latin typeface="Calibri"/>
              <a:ea typeface="Calibri"/>
              <a:cs typeface="Calibri"/>
              <a:sym typeface="Calibri"/>
            </a:endParaRPr>
          </a:p>
        </p:txBody>
      </p:sp>
      <p:pic>
        <p:nvPicPr>
          <p:cNvPr descr="preencoded.png" id="175" name="Google Shape;175;p7"/>
          <p:cNvPicPr preferRelativeResize="0"/>
          <p:nvPr/>
        </p:nvPicPr>
        <p:blipFill rotWithShape="1">
          <a:blip r:embed="rId4">
            <a:alphaModFix/>
          </a:blip>
          <a:srcRect b="0" l="0" r="0" t="0"/>
          <a:stretch/>
        </p:blipFill>
        <p:spPr>
          <a:xfrm>
            <a:off x="4846320" y="4956048"/>
            <a:ext cx="182880" cy="182880"/>
          </a:xfrm>
          <a:prstGeom prst="rect">
            <a:avLst/>
          </a:prstGeom>
          <a:noFill/>
          <a:ln>
            <a:noFill/>
          </a:ln>
        </p:spPr>
      </p:pic>
      <p:sp>
        <p:nvSpPr>
          <p:cNvPr id="176" name="Google Shape;176;p7"/>
          <p:cNvSpPr/>
          <p:nvPr/>
        </p:nvSpPr>
        <p:spPr>
          <a:xfrm>
            <a:off x="5120640" y="49103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5 dbt mart tables</a:t>
            </a:r>
            <a:endParaRPr sz="1200">
              <a:solidFill>
                <a:schemeClr val="dk1"/>
              </a:solidFill>
              <a:latin typeface="Calibri"/>
              <a:ea typeface="Calibri"/>
              <a:cs typeface="Calibri"/>
              <a:sym typeface="Calibri"/>
            </a:endParaRPr>
          </a:p>
        </p:txBody>
      </p:sp>
      <p:pic>
        <p:nvPicPr>
          <p:cNvPr descr="preencoded.png" id="177" name="Google Shape;177;p7"/>
          <p:cNvPicPr preferRelativeResize="0"/>
          <p:nvPr/>
        </p:nvPicPr>
        <p:blipFill rotWithShape="1">
          <a:blip r:embed="rId4">
            <a:alphaModFix/>
          </a:blip>
          <a:srcRect b="0" l="0" r="0" t="0"/>
          <a:stretch/>
        </p:blipFill>
        <p:spPr>
          <a:xfrm>
            <a:off x="4846320" y="5340096"/>
            <a:ext cx="182880" cy="182880"/>
          </a:xfrm>
          <a:prstGeom prst="rect">
            <a:avLst/>
          </a:prstGeom>
          <a:noFill/>
          <a:ln>
            <a:noFill/>
          </a:ln>
        </p:spPr>
      </p:pic>
      <p:sp>
        <p:nvSpPr>
          <p:cNvPr id="178" name="Google Shape;178;p7"/>
          <p:cNvSpPr/>
          <p:nvPr/>
        </p:nvSpPr>
        <p:spPr>
          <a:xfrm>
            <a:off x="5120640" y="5294376"/>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Time-pattern analysis</a:t>
            </a:r>
            <a:endParaRPr sz="1200">
              <a:solidFill>
                <a:schemeClr val="dk1"/>
              </a:solidFill>
              <a:latin typeface="Calibri"/>
              <a:ea typeface="Calibri"/>
              <a:cs typeface="Calibri"/>
              <a:sym typeface="Calibri"/>
            </a:endParaRPr>
          </a:p>
        </p:txBody>
      </p:sp>
      <p:pic>
        <p:nvPicPr>
          <p:cNvPr descr="preencoded.png" id="179" name="Google Shape;179;p7"/>
          <p:cNvPicPr preferRelativeResize="0"/>
          <p:nvPr/>
        </p:nvPicPr>
        <p:blipFill rotWithShape="1">
          <a:blip r:embed="rId4">
            <a:alphaModFix/>
          </a:blip>
          <a:srcRect b="0" l="0" r="0" t="0"/>
          <a:stretch/>
        </p:blipFill>
        <p:spPr>
          <a:xfrm>
            <a:off x="4846320" y="5724144"/>
            <a:ext cx="182880" cy="182880"/>
          </a:xfrm>
          <a:prstGeom prst="rect">
            <a:avLst/>
          </a:prstGeom>
          <a:noFill/>
          <a:ln>
            <a:noFill/>
          </a:ln>
        </p:spPr>
      </p:pic>
      <p:sp>
        <p:nvSpPr>
          <p:cNvPr id="180" name="Google Shape;180;p7"/>
          <p:cNvSpPr/>
          <p:nvPr/>
        </p:nvSpPr>
        <p:spPr>
          <a:xfrm>
            <a:off x="5120640" y="5678424"/>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Weekly stakeholder exports</a:t>
            </a:r>
            <a:endParaRPr sz="1200">
              <a:solidFill>
                <a:schemeClr val="dk1"/>
              </a:solidFill>
              <a:latin typeface="Calibri"/>
              <a:ea typeface="Calibri"/>
              <a:cs typeface="Calibri"/>
              <a:sym typeface="Calibri"/>
            </a:endParaRPr>
          </a:p>
        </p:txBody>
      </p:sp>
      <p:sp>
        <p:nvSpPr>
          <p:cNvPr id="181" name="Google Shape;181;p7"/>
          <p:cNvSpPr/>
          <p:nvPr/>
        </p:nvSpPr>
        <p:spPr>
          <a:xfrm>
            <a:off x="8321040" y="1645920"/>
            <a:ext cx="3657600" cy="45720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7"/>
          <p:cNvSpPr/>
          <p:nvPr/>
        </p:nvSpPr>
        <p:spPr>
          <a:xfrm>
            <a:off x="9692640" y="2011680"/>
            <a:ext cx="914400" cy="91440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3" name="Google Shape;183;p7"/>
          <p:cNvPicPr preferRelativeResize="0"/>
          <p:nvPr/>
        </p:nvPicPr>
        <p:blipFill rotWithShape="1">
          <a:blip r:embed="rId6">
            <a:alphaModFix/>
          </a:blip>
          <a:srcRect b="0" l="0" r="0" t="0"/>
          <a:stretch/>
        </p:blipFill>
        <p:spPr>
          <a:xfrm>
            <a:off x="9948672" y="2267712"/>
            <a:ext cx="411480" cy="411480"/>
          </a:xfrm>
          <a:prstGeom prst="rect">
            <a:avLst/>
          </a:prstGeom>
          <a:noFill/>
          <a:ln>
            <a:noFill/>
          </a:ln>
        </p:spPr>
      </p:pic>
      <p:sp>
        <p:nvSpPr>
          <p:cNvPr id="184" name="Google Shape;184;p7"/>
          <p:cNvSpPr/>
          <p:nvPr/>
        </p:nvSpPr>
        <p:spPr>
          <a:xfrm>
            <a:off x="8321040" y="306324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2200"/>
              <a:buFont typeface="Calibri"/>
              <a:buNone/>
            </a:pPr>
            <a:r>
              <a:rPr b="1" lang="en-US" sz="2200">
                <a:solidFill>
                  <a:srgbClr val="1F2937"/>
                </a:solidFill>
                <a:latin typeface="Calibri"/>
                <a:ea typeface="Calibri"/>
                <a:cs typeface="Calibri"/>
                <a:sym typeface="Calibri"/>
              </a:rPr>
              <a:t>Platform Engineer</a:t>
            </a:r>
            <a:endParaRPr sz="2200">
              <a:solidFill>
                <a:schemeClr val="dk1"/>
              </a:solidFill>
              <a:latin typeface="Calibri"/>
              <a:ea typeface="Calibri"/>
              <a:cs typeface="Calibri"/>
              <a:sym typeface="Calibri"/>
            </a:endParaRPr>
          </a:p>
        </p:txBody>
      </p:sp>
      <p:sp>
        <p:nvSpPr>
          <p:cNvPr id="185" name="Google Shape;185;p7"/>
          <p:cNvSpPr/>
          <p:nvPr/>
        </p:nvSpPr>
        <p:spPr>
          <a:xfrm>
            <a:off x="8321040" y="3474720"/>
            <a:ext cx="3657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System health and operations</a:t>
            </a:r>
            <a:endParaRPr sz="1200">
              <a:solidFill>
                <a:schemeClr val="dk1"/>
              </a:solidFill>
              <a:latin typeface="Calibri"/>
              <a:ea typeface="Calibri"/>
              <a:cs typeface="Calibri"/>
              <a:sym typeface="Calibri"/>
            </a:endParaRPr>
          </a:p>
        </p:txBody>
      </p:sp>
      <p:sp>
        <p:nvSpPr>
          <p:cNvPr id="186" name="Google Shape;186;p7"/>
          <p:cNvSpPr/>
          <p:nvPr/>
        </p:nvSpPr>
        <p:spPr>
          <a:xfrm>
            <a:off x="9692640" y="3931920"/>
            <a:ext cx="914400" cy="36576"/>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7"/>
          <p:cNvSpPr/>
          <p:nvPr/>
        </p:nvSpPr>
        <p:spPr>
          <a:xfrm>
            <a:off x="8686800" y="4160520"/>
            <a:ext cx="2926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1000"/>
              <a:buFont typeface="Calibri"/>
              <a:buNone/>
            </a:pPr>
            <a:r>
              <a:rPr b="1" lang="en-US" sz="1000">
                <a:solidFill>
                  <a:srgbClr val="6B7280"/>
                </a:solidFill>
                <a:latin typeface="Calibri"/>
                <a:ea typeface="Calibri"/>
                <a:cs typeface="Calibri"/>
                <a:sym typeface="Calibri"/>
              </a:rPr>
              <a:t>KEY FEATURES</a:t>
            </a:r>
            <a:endParaRPr sz="1000">
              <a:solidFill>
                <a:schemeClr val="dk1"/>
              </a:solidFill>
              <a:latin typeface="Calibri"/>
              <a:ea typeface="Calibri"/>
              <a:cs typeface="Calibri"/>
              <a:sym typeface="Calibri"/>
            </a:endParaRPr>
          </a:p>
        </p:txBody>
      </p:sp>
      <p:pic>
        <p:nvPicPr>
          <p:cNvPr descr="preencoded.png" id="188" name="Google Shape;188;p7"/>
          <p:cNvPicPr preferRelativeResize="0"/>
          <p:nvPr/>
        </p:nvPicPr>
        <p:blipFill rotWithShape="1">
          <a:blip r:embed="rId4">
            <a:alphaModFix/>
          </a:blip>
          <a:srcRect b="0" l="0" r="0" t="0"/>
          <a:stretch/>
        </p:blipFill>
        <p:spPr>
          <a:xfrm>
            <a:off x="8778240" y="4572000"/>
            <a:ext cx="182880" cy="182880"/>
          </a:xfrm>
          <a:prstGeom prst="rect">
            <a:avLst/>
          </a:prstGeom>
          <a:noFill/>
          <a:ln>
            <a:noFill/>
          </a:ln>
        </p:spPr>
      </p:pic>
      <p:sp>
        <p:nvSpPr>
          <p:cNvPr id="189" name="Google Shape;189;p7"/>
          <p:cNvSpPr/>
          <p:nvPr/>
        </p:nvSpPr>
        <p:spPr>
          <a:xfrm>
            <a:off x="9052560" y="45262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Data Quality dashboard</a:t>
            </a:r>
            <a:endParaRPr sz="1200">
              <a:solidFill>
                <a:schemeClr val="dk1"/>
              </a:solidFill>
              <a:latin typeface="Calibri"/>
              <a:ea typeface="Calibri"/>
              <a:cs typeface="Calibri"/>
              <a:sym typeface="Calibri"/>
            </a:endParaRPr>
          </a:p>
        </p:txBody>
      </p:sp>
      <p:pic>
        <p:nvPicPr>
          <p:cNvPr descr="preencoded.png" id="190" name="Google Shape;190;p7"/>
          <p:cNvPicPr preferRelativeResize="0"/>
          <p:nvPr/>
        </p:nvPicPr>
        <p:blipFill rotWithShape="1">
          <a:blip r:embed="rId4">
            <a:alphaModFix/>
          </a:blip>
          <a:srcRect b="0" l="0" r="0" t="0"/>
          <a:stretch/>
        </p:blipFill>
        <p:spPr>
          <a:xfrm>
            <a:off x="8778240" y="4956048"/>
            <a:ext cx="182880" cy="182880"/>
          </a:xfrm>
          <a:prstGeom prst="rect">
            <a:avLst/>
          </a:prstGeom>
          <a:noFill/>
          <a:ln>
            <a:noFill/>
          </a:ln>
        </p:spPr>
      </p:pic>
      <p:sp>
        <p:nvSpPr>
          <p:cNvPr id="191" name="Google Shape;191;p7"/>
          <p:cNvSpPr/>
          <p:nvPr/>
        </p:nvSpPr>
        <p:spPr>
          <a:xfrm>
            <a:off x="9052560" y="49103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System Health page</a:t>
            </a:r>
            <a:endParaRPr sz="1200">
              <a:solidFill>
                <a:schemeClr val="dk1"/>
              </a:solidFill>
              <a:latin typeface="Calibri"/>
              <a:ea typeface="Calibri"/>
              <a:cs typeface="Calibri"/>
              <a:sym typeface="Calibri"/>
            </a:endParaRPr>
          </a:p>
        </p:txBody>
      </p:sp>
      <p:pic>
        <p:nvPicPr>
          <p:cNvPr descr="preencoded.png" id="192" name="Google Shape;192;p7"/>
          <p:cNvPicPr preferRelativeResize="0"/>
          <p:nvPr/>
        </p:nvPicPr>
        <p:blipFill rotWithShape="1">
          <a:blip r:embed="rId4">
            <a:alphaModFix/>
          </a:blip>
          <a:srcRect b="0" l="0" r="0" t="0"/>
          <a:stretch/>
        </p:blipFill>
        <p:spPr>
          <a:xfrm>
            <a:off x="8778240" y="5340096"/>
            <a:ext cx="182880" cy="182880"/>
          </a:xfrm>
          <a:prstGeom prst="rect">
            <a:avLst/>
          </a:prstGeom>
          <a:noFill/>
          <a:ln>
            <a:noFill/>
          </a:ln>
        </p:spPr>
      </p:pic>
      <p:sp>
        <p:nvSpPr>
          <p:cNvPr id="193" name="Google Shape;193;p7"/>
          <p:cNvSpPr/>
          <p:nvPr/>
        </p:nvSpPr>
        <p:spPr>
          <a:xfrm>
            <a:off x="9052560" y="5294376"/>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Airflow DAGs (auto-retry)</a:t>
            </a:r>
            <a:endParaRPr sz="1200">
              <a:solidFill>
                <a:schemeClr val="dk1"/>
              </a:solidFill>
              <a:latin typeface="Calibri"/>
              <a:ea typeface="Calibri"/>
              <a:cs typeface="Calibri"/>
              <a:sym typeface="Calibri"/>
            </a:endParaRPr>
          </a:p>
        </p:txBody>
      </p:sp>
      <p:pic>
        <p:nvPicPr>
          <p:cNvPr descr="preencoded.png" id="194" name="Google Shape;194;p7"/>
          <p:cNvPicPr preferRelativeResize="0"/>
          <p:nvPr/>
        </p:nvPicPr>
        <p:blipFill rotWithShape="1">
          <a:blip r:embed="rId4">
            <a:alphaModFix/>
          </a:blip>
          <a:srcRect b="0" l="0" r="0" t="0"/>
          <a:stretch/>
        </p:blipFill>
        <p:spPr>
          <a:xfrm>
            <a:off x="8778240" y="5724144"/>
            <a:ext cx="182880" cy="182880"/>
          </a:xfrm>
          <a:prstGeom prst="rect">
            <a:avLst/>
          </a:prstGeom>
          <a:noFill/>
          <a:ln>
            <a:noFill/>
          </a:ln>
        </p:spPr>
      </p:pic>
      <p:sp>
        <p:nvSpPr>
          <p:cNvPr id="195" name="Google Shape;195;p7"/>
          <p:cNvSpPr/>
          <p:nvPr/>
        </p:nvSpPr>
        <p:spPr>
          <a:xfrm>
            <a:off x="9052560" y="5678424"/>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200"/>
              <a:buFont typeface="Calibri"/>
              <a:buNone/>
            </a:pPr>
            <a:r>
              <a:rPr lang="en-US" sz="1200">
                <a:solidFill>
                  <a:srgbClr val="374151"/>
                </a:solidFill>
                <a:latin typeface="Calibri"/>
                <a:ea typeface="Calibri"/>
                <a:cs typeface="Calibri"/>
                <a:sym typeface="Calibri"/>
              </a:rPr>
              <a:t>One-click start_all.ps1</a:t>
            </a:r>
            <a:endParaRPr sz="1200">
              <a:solidFill>
                <a:schemeClr val="dk1"/>
              </a:solidFill>
              <a:latin typeface="Calibri"/>
              <a:ea typeface="Calibri"/>
              <a:cs typeface="Calibri"/>
              <a:sym typeface="Calibri"/>
            </a:endParaRPr>
          </a:p>
        </p:txBody>
      </p:sp>
      <p:sp>
        <p:nvSpPr>
          <p:cNvPr id="196" name="Google Shape;196;p7"/>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8"/>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8"/>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6 </a:t>
            </a:r>
            <a:r>
              <a:rPr lang="en-US" sz="1000">
                <a:solidFill>
                  <a:srgbClr val="9CA3AF"/>
                </a:solidFill>
                <a:latin typeface="Calibri"/>
                <a:ea typeface="Calibri"/>
                <a:cs typeface="Calibri"/>
                <a:sym typeface="Calibri"/>
              </a:rPr>
              <a:t>/ 12</a:t>
            </a:r>
            <a:endParaRPr sz="1000">
              <a:solidFill>
                <a:schemeClr val="dk1"/>
              </a:solidFill>
              <a:latin typeface="Calibri"/>
              <a:ea typeface="Calibri"/>
              <a:cs typeface="Calibri"/>
              <a:sym typeface="Calibri"/>
            </a:endParaRPr>
          </a:p>
        </p:txBody>
      </p:sp>
      <p:sp>
        <p:nvSpPr>
          <p:cNvPr id="204" name="Google Shape;204;p8"/>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Data Architecture</a:t>
            </a:r>
            <a:endParaRPr sz="3200">
              <a:solidFill>
                <a:schemeClr val="dk1"/>
              </a:solidFill>
              <a:latin typeface="Calibri"/>
              <a:ea typeface="Calibri"/>
              <a:cs typeface="Calibri"/>
              <a:sym typeface="Calibri"/>
            </a:endParaRPr>
          </a:p>
        </p:txBody>
      </p:sp>
      <p:sp>
        <p:nvSpPr>
          <p:cNvPr id="205" name="Google Shape;205;p8"/>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Two schemas serving different use cases</a:t>
            </a:r>
            <a:endParaRPr sz="1400">
              <a:solidFill>
                <a:schemeClr val="dk1"/>
              </a:solidFill>
              <a:latin typeface="Calibri"/>
              <a:ea typeface="Calibri"/>
              <a:cs typeface="Calibri"/>
              <a:sym typeface="Calibri"/>
            </a:endParaRPr>
          </a:p>
        </p:txBody>
      </p:sp>
      <p:sp>
        <p:nvSpPr>
          <p:cNvPr id="206" name="Google Shape;206;p8"/>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8"/>
          <p:cNvSpPr/>
          <p:nvPr/>
        </p:nvSpPr>
        <p:spPr>
          <a:xfrm>
            <a:off x="457200" y="1645920"/>
            <a:ext cx="5486400" cy="41148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
          <p:cNvSpPr/>
          <p:nvPr/>
        </p:nvSpPr>
        <p:spPr>
          <a:xfrm>
            <a:off x="457200" y="1645920"/>
            <a:ext cx="548640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p:nvPr/>
        </p:nvSpPr>
        <p:spPr>
          <a:xfrm>
            <a:off x="731520" y="1828800"/>
            <a:ext cx="548640" cy="54864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10" name="Google Shape;210;p8"/>
          <p:cNvPicPr preferRelativeResize="0"/>
          <p:nvPr/>
        </p:nvPicPr>
        <p:blipFill rotWithShape="1">
          <a:blip r:embed="rId3">
            <a:alphaModFix/>
          </a:blip>
          <a:srcRect b="0" l="0" r="0" t="0"/>
          <a:stretch/>
        </p:blipFill>
        <p:spPr>
          <a:xfrm>
            <a:off x="868680" y="1965960"/>
            <a:ext cx="274320" cy="274320"/>
          </a:xfrm>
          <a:prstGeom prst="rect">
            <a:avLst/>
          </a:prstGeom>
          <a:noFill/>
          <a:ln>
            <a:noFill/>
          </a:ln>
        </p:spPr>
      </p:pic>
      <p:sp>
        <p:nvSpPr>
          <p:cNvPr id="211" name="Google Shape;211;p8"/>
          <p:cNvSpPr/>
          <p:nvPr/>
        </p:nvSpPr>
        <p:spPr>
          <a:xfrm>
            <a:off x="1417320" y="1828800"/>
            <a:ext cx="4389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OPERATIONAL  ·  public schema</a:t>
            </a:r>
            <a:endParaRPr sz="1100">
              <a:solidFill>
                <a:schemeClr val="dk1"/>
              </a:solidFill>
              <a:latin typeface="Calibri"/>
              <a:ea typeface="Calibri"/>
              <a:cs typeface="Calibri"/>
              <a:sym typeface="Calibri"/>
            </a:endParaRPr>
          </a:p>
        </p:txBody>
      </p:sp>
      <p:sp>
        <p:nvSpPr>
          <p:cNvPr id="212" name="Google Shape;212;p8"/>
          <p:cNvSpPr/>
          <p:nvPr/>
        </p:nvSpPr>
        <p:spPr>
          <a:xfrm>
            <a:off x="1417320" y="2084832"/>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TimescaleDB (PostgreSQL)</a:t>
            </a:r>
            <a:endParaRPr sz="1600">
              <a:solidFill>
                <a:schemeClr val="dk1"/>
              </a:solidFill>
              <a:latin typeface="Calibri"/>
              <a:ea typeface="Calibri"/>
              <a:cs typeface="Calibri"/>
              <a:sym typeface="Calibri"/>
            </a:endParaRPr>
          </a:p>
        </p:txBody>
      </p:sp>
      <p:sp>
        <p:nvSpPr>
          <p:cNvPr id="213" name="Google Shape;213;p8"/>
          <p:cNvSpPr/>
          <p:nvPr/>
        </p:nvSpPr>
        <p:spPr>
          <a:xfrm>
            <a:off x="731520" y="2560320"/>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Real-time tables, hypertable optimization, used by the React dashboard.</a:t>
            </a:r>
            <a:endParaRPr sz="1200">
              <a:solidFill>
                <a:schemeClr val="dk1"/>
              </a:solidFill>
              <a:latin typeface="Calibri"/>
              <a:ea typeface="Calibri"/>
              <a:cs typeface="Calibri"/>
              <a:sym typeface="Calibri"/>
            </a:endParaRPr>
          </a:p>
        </p:txBody>
      </p:sp>
      <p:sp>
        <p:nvSpPr>
          <p:cNvPr id="214" name="Google Shape;214;p8"/>
          <p:cNvSpPr/>
          <p:nvPr/>
        </p:nvSpPr>
        <p:spPr>
          <a:xfrm>
            <a:off x="685800" y="3246120"/>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
          <p:cNvSpPr/>
          <p:nvPr/>
        </p:nvSpPr>
        <p:spPr>
          <a:xfrm>
            <a:off x="868680" y="3227832"/>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raw_events</a:t>
            </a:r>
            <a:endParaRPr sz="1100">
              <a:solidFill>
                <a:schemeClr val="dk1"/>
              </a:solidFill>
              <a:latin typeface="Calibri"/>
              <a:ea typeface="Calibri"/>
              <a:cs typeface="Calibri"/>
              <a:sym typeface="Calibri"/>
            </a:endParaRPr>
          </a:p>
        </p:txBody>
      </p:sp>
      <p:sp>
        <p:nvSpPr>
          <p:cNvPr id="216" name="Google Shape;216;p8"/>
          <p:cNvSpPr/>
          <p:nvPr/>
        </p:nvSpPr>
        <p:spPr>
          <a:xfrm>
            <a:off x="2697480" y="3227832"/>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Incoming readings (TimescaleDB)</a:t>
            </a:r>
            <a:endParaRPr sz="1000">
              <a:solidFill>
                <a:schemeClr val="dk1"/>
              </a:solidFill>
              <a:latin typeface="Calibri"/>
              <a:ea typeface="Calibri"/>
              <a:cs typeface="Calibri"/>
              <a:sym typeface="Calibri"/>
            </a:endParaRPr>
          </a:p>
        </p:txBody>
      </p:sp>
      <p:sp>
        <p:nvSpPr>
          <p:cNvPr id="217" name="Google Shape;217;p8"/>
          <p:cNvSpPr/>
          <p:nvPr/>
        </p:nvSpPr>
        <p:spPr>
          <a:xfrm>
            <a:off x="685800" y="3630168"/>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
          <p:cNvSpPr/>
          <p:nvPr/>
        </p:nvSpPr>
        <p:spPr>
          <a:xfrm>
            <a:off x="868680" y="3611880"/>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predictions</a:t>
            </a:r>
            <a:endParaRPr sz="1100">
              <a:solidFill>
                <a:schemeClr val="dk1"/>
              </a:solidFill>
              <a:latin typeface="Calibri"/>
              <a:ea typeface="Calibri"/>
              <a:cs typeface="Calibri"/>
              <a:sym typeface="Calibri"/>
            </a:endParaRPr>
          </a:p>
        </p:txBody>
      </p:sp>
      <p:sp>
        <p:nvSpPr>
          <p:cNvPr id="219" name="Google Shape;219;p8"/>
          <p:cNvSpPr/>
          <p:nvPr/>
        </p:nvSpPr>
        <p:spPr>
          <a:xfrm>
            <a:off x="2697480" y="361188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RF classifications, per-message</a:t>
            </a:r>
            <a:endParaRPr sz="1000">
              <a:solidFill>
                <a:schemeClr val="dk1"/>
              </a:solidFill>
              <a:latin typeface="Calibri"/>
              <a:ea typeface="Calibri"/>
              <a:cs typeface="Calibri"/>
              <a:sym typeface="Calibri"/>
            </a:endParaRPr>
          </a:p>
        </p:txBody>
      </p:sp>
      <p:sp>
        <p:nvSpPr>
          <p:cNvPr id="220" name="Google Shape;220;p8"/>
          <p:cNvSpPr/>
          <p:nvPr/>
        </p:nvSpPr>
        <p:spPr>
          <a:xfrm>
            <a:off x="685800" y="4014216"/>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8"/>
          <p:cNvSpPr/>
          <p:nvPr/>
        </p:nvSpPr>
        <p:spPr>
          <a:xfrm>
            <a:off x="868680" y="3995928"/>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anomalies</a:t>
            </a:r>
            <a:endParaRPr sz="1100">
              <a:solidFill>
                <a:schemeClr val="dk1"/>
              </a:solidFill>
              <a:latin typeface="Calibri"/>
              <a:ea typeface="Calibri"/>
              <a:cs typeface="Calibri"/>
              <a:sym typeface="Calibri"/>
            </a:endParaRPr>
          </a:p>
        </p:txBody>
      </p:sp>
      <p:sp>
        <p:nvSpPr>
          <p:cNvPr id="222" name="Google Shape;222;p8"/>
          <p:cNvSpPr/>
          <p:nvPr/>
        </p:nvSpPr>
        <p:spPr>
          <a:xfrm>
            <a:off x="2697480" y="399592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IF detections with rule filter</a:t>
            </a:r>
            <a:endParaRPr sz="1000">
              <a:solidFill>
                <a:schemeClr val="dk1"/>
              </a:solidFill>
              <a:latin typeface="Calibri"/>
              <a:ea typeface="Calibri"/>
              <a:cs typeface="Calibri"/>
              <a:sym typeface="Calibri"/>
            </a:endParaRPr>
          </a:p>
        </p:txBody>
      </p:sp>
      <p:sp>
        <p:nvSpPr>
          <p:cNvPr id="223" name="Google Shape;223;p8"/>
          <p:cNvSpPr/>
          <p:nvPr/>
        </p:nvSpPr>
        <p:spPr>
          <a:xfrm>
            <a:off x="685800" y="4398264"/>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8"/>
          <p:cNvSpPr/>
          <p:nvPr/>
        </p:nvSpPr>
        <p:spPr>
          <a:xfrm>
            <a:off x="868680" y="4379976"/>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forecasts</a:t>
            </a:r>
            <a:endParaRPr sz="1100">
              <a:solidFill>
                <a:schemeClr val="dk1"/>
              </a:solidFill>
              <a:latin typeface="Calibri"/>
              <a:ea typeface="Calibri"/>
              <a:cs typeface="Calibri"/>
              <a:sym typeface="Calibri"/>
            </a:endParaRPr>
          </a:p>
        </p:txBody>
      </p:sp>
      <p:sp>
        <p:nvSpPr>
          <p:cNvPr id="225" name="Google Shape;225;p8"/>
          <p:cNvSpPr/>
          <p:nvPr/>
        </p:nvSpPr>
        <p:spPr>
          <a:xfrm>
            <a:off x="2697480" y="4379976"/>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20/30/60-min predictions</a:t>
            </a:r>
            <a:endParaRPr sz="1000">
              <a:solidFill>
                <a:schemeClr val="dk1"/>
              </a:solidFill>
              <a:latin typeface="Calibri"/>
              <a:ea typeface="Calibri"/>
              <a:cs typeface="Calibri"/>
              <a:sym typeface="Calibri"/>
            </a:endParaRPr>
          </a:p>
        </p:txBody>
      </p:sp>
      <p:sp>
        <p:nvSpPr>
          <p:cNvPr id="226" name="Google Shape;226;p8"/>
          <p:cNvSpPr/>
          <p:nvPr/>
        </p:nvSpPr>
        <p:spPr>
          <a:xfrm>
            <a:off x="685800" y="4782312"/>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8"/>
          <p:cNvSpPr/>
          <p:nvPr/>
        </p:nvSpPr>
        <p:spPr>
          <a:xfrm>
            <a:off x="868680" y="4764024"/>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ai_summaries</a:t>
            </a:r>
            <a:endParaRPr sz="1100">
              <a:solidFill>
                <a:schemeClr val="dk1"/>
              </a:solidFill>
              <a:latin typeface="Calibri"/>
              <a:ea typeface="Calibri"/>
              <a:cs typeface="Calibri"/>
              <a:sym typeface="Calibri"/>
            </a:endParaRPr>
          </a:p>
        </p:txBody>
      </p:sp>
      <p:sp>
        <p:nvSpPr>
          <p:cNvPr id="228" name="Google Shape;228;p8"/>
          <p:cNvSpPr/>
          <p:nvPr/>
        </p:nvSpPr>
        <p:spPr>
          <a:xfrm>
            <a:off x="2697480" y="4764024"/>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Gemini outputs every 5 min</a:t>
            </a:r>
            <a:endParaRPr sz="1000">
              <a:solidFill>
                <a:schemeClr val="dk1"/>
              </a:solidFill>
              <a:latin typeface="Calibri"/>
              <a:ea typeface="Calibri"/>
              <a:cs typeface="Calibri"/>
              <a:sym typeface="Calibri"/>
            </a:endParaRPr>
          </a:p>
        </p:txBody>
      </p:sp>
      <p:sp>
        <p:nvSpPr>
          <p:cNvPr id="229" name="Google Shape;229;p8"/>
          <p:cNvSpPr/>
          <p:nvPr/>
        </p:nvSpPr>
        <p:spPr>
          <a:xfrm>
            <a:off x="685800" y="5166360"/>
            <a:ext cx="73152" cy="292608"/>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8"/>
          <p:cNvSpPr/>
          <p:nvPr/>
        </p:nvSpPr>
        <p:spPr>
          <a:xfrm>
            <a:off x="868680" y="5148072"/>
            <a:ext cx="1783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onsolas"/>
              <a:buNone/>
            </a:pPr>
            <a:r>
              <a:rPr b="1" lang="en-US" sz="1100">
                <a:solidFill>
                  <a:srgbClr val="047954"/>
                </a:solidFill>
                <a:latin typeface="Consolas"/>
                <a:ea typeface="Consolas"/>
                <a:cs typeface="Consolas"/>
                <a:sym typeface="Consolas"/>
              </a:rPr>
              <a:t>data_quality_events</a:t>
            </a:r>
            <a:endParaRPr sz="1100">
              <a:solidFill>
                <a:schemeClr val="dk1"/>
              </a:solidFill>
              <a:latin typeface="Calibri"/>
              <a:ea typeface="Calibri"/>
              <a:cs typeface="Calibri"/>
              <a:sym typeface="Calibri"/>
            </a:endParaRPr>
          </a:p>
        </p:txBody>
      </p:sp>
      <p:sp>
        <p:nvSpPr>
          <p:cNvPr id="231" name="Google Shape;231;p8"/>
          <p:cNvSpPr/>
          <p:nvPr/>
        </p:nvSpPr>
        <p:spPr>
          <a:xfrm>
            <a:off x="2697480" y="5148072"/>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Per-message DQ scoring</a:t>
            </a:r>
            <a:endParaRPr sz="1000">
              <a:solidFill>
                <a:schemeClr val="dk1"/>
              </a:solidFill>
              <a:latin typeface="Calibri"/>
              <a:ea typeface="Calibri"/>
              <a:cs typeface="Calibri"/>
              <a:sym typeface="Calibri"/>
            </a:endParaRPr>
          </a:p>
        </p:txBody>
      </p:sp>
      <p:sp>
        <p:nvSpPr>
          <p:cNvPr id="232" name="Google Shape;232;p8"/>
          <p:cNvSpPr/>
          <p:nvPr/>
        </p:nvSpPr>
        <p:spPr>
          <a:xfrm>
            <a:off x="6217920" y="1645920"/>
            <a:ext cx="5486400" cy="41148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8"/>
          <p:cNvSpPr/>
          <p:nvPr/>
        </p:nvSpPr>
        <p:spPr>
          <a:xfrm>
            <a:off x="6217920" y="1645920"/>
            <a:ext cx="548640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8"/>
          <p:cNvSpPr/>
          <p:nvPr/>
        </p:nvSpPr>
        <p:spPr>
          <a:xfrm>
            <a:off x="6492240" y="1828800"/>
            <a:ext cx="548640" cy="54864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5" name="Google Shape;235;p8"/>
          <p:cNvPicPr preferRelativeResize="0"/>
          <p:nvPr/>
        </p:nvPicPr>
        <p:blipFill rotWithShape="1">
          <a:blip r:embed="rId4">
            <a:alphaModFix/>
          </a:blip>
          <a:srcRect b="0" l="0" r="0" t="0"/>
          <a:stretch/>
        </p:blipFill>
        <p:spPr>
          <a:xfrm>
            <a:off x="6629400" y="1965960"/>
            <a:ext cx="274320" cy="274320"/>
          </a:xfrm>
          <a:prstGeom prst="rect">
            <a:avLst/>
          </a:prstGeom>
          <a:noFill/>
          <a:ln>
            <a:noFill/>
          </a:ln>
        </p:spPr>
      </p:pic>
      <p:sp>
        <p:nvSpPr>
          <p:cNvPr id="236" name="Google Shape;236;p8"/>
          <p:cNvSpPr/>
          <p:nvPr/>
        </p:nvSpPr>
        <p:spPr>
          <a:xfrm>
            <a:off x="7178040" y="1828800"/>
            <a:ext cx="4389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ANALYTICAL  ·  warehouse schema</a:t>
            </a:r>
            <a:endParaRPr sz="1100">
              <a:solidFill>
                <a:schemeClr val="dk1"/>
              </a:solidFill>
              <a:latin typeface="Calibri"/>
              <a:ea typeface="Calibri"/>
              <a:cs typeface="Calibri"/>
              <a:sym typeface="Calibri"/>
            </a:endParaRPr>
          </a:p>
        </p:txBody>
      </p:sp>
      <p:sp>
        <p:nvSpPr>
          <p:cNvPr id="237" name="Google Shape;237;p8"/>
          <p:cNvSpPr/>
          <p:nvPr/>
        </p:nvSpPr>
        <p:spPr>
          <a:xfrm>
            <a:off x="7178040" y="2084832"/>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600"/>
              <a:buFont typeface="Calibri"/>
              <a:buNone/>
            </a:pPr>
            <a:r>
              <a:rPr b="1" lang="en-US" sz="1600">
                <a:solidFill>
                  <a:srgbClr val="1F2937"/>
                </a:solidFill>
                <a:latin typeface="Calibri"/>
                <a:ea typeface="Calibri"/>
                <a:cs typeface="Calibri"/>
                <a:sym typeface="Calibri"/>
              </a:rPr>
              <a:t>Star schema · 5 dbt marts</a:t>
            </a:r>
            <a:endParaRPr sz="1600">
              <a:solidFill>
                <a:schemeClr val="dk1"/>
              </a:solidFill>
              <a:latin typeface="Calibri"/>
              <a:ea typeface="Calibri"/>
              <a:cs typeface="Calibri"/>
              <a:sym typeface="Calibri"/>
            </a:endParaRPr>
          </a:p>
        </p:txBody>
      </p:sp>
      <p:sp>
        <p:nvSpPr>
          <p:cNvPr id="238" name="Google Shape;238;p8"/>
          <p:cNvSpPr/>
          <p:nvPr/>
        </p:nvSpPr>
        <p:spPr>
          <a:xfrm>
            <a:off x="6492240" y="256032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i="1" lang="en-US" sz="1200">
                <a:solidFill>
                  <a:srgbClr val="6B7280"/>
                </a:solidFill>
                <a:latin typeface="Calibri"/>
                <a:ea typeface="Calibri"/>
                <a:cs typeface="Calibri"/>
                <a:sym typeface="Calibri"/>
              </a:rPr>
              <a:t>Loaded by Spark Streaming. Transformed by dbt. Used by Power BI.</a:t>
            </a:r>
            <a:endParaRPr sz="1200">
              <a:solidFill>
                <a:schemeClr val="dk1"/>
              </a:solidFill>
              <a:latin typeface="Calibri"/>
              <a:ea typeface="Calibri"/>
              <a:cs typeface="Calibri"/>
              <a:sym typeface="Calibri"/>
            </a:endParaRPr>
          </a:p>
        </p:txBody>
      </p:sp>
      <p:grpSp>
        <p:nvGrpSpPr>
          <p:cNvPr id="239" name="Google Shape;239;p8"/>
          <p:cNvGrpSpPr/>
          <p:nvPr/>
        </p:nvGrpSpPr>
        <p:grpSpPr>
          <a:xfrm>
            <a:off x="8092440" y="3589020"/>
            <a:ext cx="1737360" cy="594360"/>
            <a:chOff x="8092440" y="3520440"/>
            <a:chExt cx="1737360" cy="594360"/>
          </a:xfrm>
        </p:grpSpPr>
        <p:sp>
          <p:nvSpPr>
            <p:cNvPr id="240" name="Google Shape;240;p8"/>
            <p:cNvSpPr/>
            <p:nvPr/>
          </p:nvSpPr>
          <p:spPr>
            <a:xfrm>
              <a:off x="8092440" y="3520440"/>
              <a:ext cx="1737360" cy="594360"/>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8"/>
            <p:cNvSpPr/>
            <p:nvPr/>
          </p:nvSpPr>
          <p:spPr>
            <a:xfrm>
              <a:off x="8092440" y="3520440"/>
              <a:ext cx="1737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fact_traffic</a:t>
              </a:r>
              <a:endParaRPr sz="1200">
                <a:solidFill>
                  <a:schemeClr val="dk1"/>
                </a:solidFill>
                <a:latin typeface="Calibri"/>
                <a:ea typeface="Calibri"/>
                <a:cs typeface="Calibri"/>
                <a:sym typeface="Calibri"/>
              </a:endParaRPr>
            </a:p>
          </p:txBody>
        </p:sp>
        <p:sp>
          <p:nvSpPr>
            <p:cNvPr id="242" name="Google Shape;242;p8"/>
            <p:cNvSpPr/>
            <p:nvPr/>
          </p:nvSpPr>
          <p:spPr>
            <a:xfrm>
              <a:off x="8092440" y="3840480"/>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i="1" lang="en-US" sz="900">
                  <a:solidFill>
                    <a:srgbClr val="FFFFFF"/>
                  </a:solidFill>
                  <a:latin typeface="Calibri"/>
                  <a:ea typeface="Calibri"/>
                  <a:cs typeface="Calibri"/>
                  <a:sym typeface="Calibri"/>
                </a:rPr>
                <a:t>loaded by Spark</a:t>
              </a:r>
              <a:endParaRPr sz="900">
                <a:solidFill>
                  <a:schemeClr val="dk1"/>
                </a:solidFill>
                <a:latin typeface="Calibri"/>
                <a:ea typeface="Calibri"/>
                <a:cs typeface="Calibri"/>
                <a:sym typeface="Calibri"/>
              </a:endParaRPr>
            </a:p>
          </p:txBody>
        </p:sp>
      </p:grpSp>
      <p:sp>
        <p:nvSpPr>
          <p:cNvPr id="243" name="Google Shape;243;p8"/>
          <p:cNvSpPr/>
          <p:nvPr/>
        </p:nvSpPr>
        <p:spPr>
          <a:xfrm>
            <a:off x="6400800" y="3108960"/>
            <a:ext cx="1554480" cy="502920"/>
          </a:xfrm>
          <a:prstGeom prst="rect">
            <a:avLst/>
          </a:prstGeom>
          <a:solidFill>
            <a:srgbClr val="F3F4F6"/>
          </a:solidFill>
          <a:ln cap="flat" cmpd="sng" w="12700">
            <a:solidFill>
              <a:srgbClr val="336E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8"/>
          <p:cNvSpPr/>
          <p:nvPr/>
        </p:nvSpPr>
        <p:spPr>
          <a:xfrm>
            <a:off x="6400800" y="3108960"/>
            <a:ext cx="15544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dim_location</a:t>
            </a:r>
            <a:endParaRPr sz="1100">
              <a:solidFill>
                <a:schemeClr val="dk1"/>
              </a:solidFill>
              <a:latin typeface="Calibri"/>
              <a:ea typeface="Calibri"/>
              <a:cs typeface="Calibri"/>
              <a:sym typeface="Calibri"/>
            </a:endParaRPr>
          </a:p>
        </p:txBody>
      </p:sp>
      <p:sp>
        <p:nvSpPr>
          <p:cNvPr id="245" name="Google Shape;245;p8"/>
          <p:cNvSpPr/>
          <p:nvPr/>
        </p:nvSpPr>
        <p:spPr>
          <a:xfrm>
            <a:off x="6400800" y="3364992"/>
            <a:ext cx="15544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25 rows</a:t>
            </a:r>
            <a:endParaRPr sz="900">
              <a:solidFill>
                <a:schemeClr val="dk1"/>
              </a:solidFill>
              <a:latin typeface="Calibri"/>
              <a:ea typeface="Calibri"/>
              <a:cs typeface="Calibri"/>
              <a:sym typeface="Calibri"/>
            </a:endParaRPr>
          </a:p>
        </p:txBody>
      </p:sp>
      <p:grpSp>
        <p:nvGrpSpPr>
          <p:cNvPr id="246" name="Google Shape;246;p8"/>
          <p:cNvGrpSpPr/>
          <p:nvPr/>
        </p:nvGrpSpPr>
        <p:grpSpPr>
          <a:xfrm>
            <a:off x="9989820" y="3113532"/>
            <a:ext cx="1554480" cy="502920"/>
            <a:chOff x="10058400" y="3108960"/>
            <a:chExt cx="1554480" cy="502920"/>
          </a:xfrm>
        </p:grpSpPr>
        <p:sp>
          <p:nvSpPr>
            <p:cNvPr id="247" name="Google Shape;247;p8"/>
            <p:cNvSpPr/>
            <p:nvPr/>
          </p:nvSpPr>
          <p:spPr>
            <a:xfrm>
              <a:off x="10058400" y="3108960"/>
              <a:ext cx="1554480" cy="502920"/>
            </a:xfrm>
            <a:prstGeom prst="rect">
              <a:avLst/>
            </a:prstGeom>
            <a:solidFill>
              <a:srgbClr val="F3F4F6"/>
            </a:solidFill>
            <a:ln cap="flat" cmpd="sng" w="12700">
              <a:solidFill>
                <a:srgbClr val="336E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8"/>
            <p:cNvSpPr/>
            <p:nvPr/>
          </p:nvSpPr>
          <p:spPr>
            <a:xfrm>
              <a:off x="10058400" y="3108960"/>
              <a:ext cx="15544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dim_time</a:t>
              </a:r>
              <a:endParaRPr sz="1100">
                <a:solidFill>
                  <a:schemeClr val="dk1"/>
                </a:solidFill>
                <a:latin typeface="Calibri"/>
                <a:ea typeface="Calibri"/>
                <a:cs typeface="Calibri"/>
                <a:sym typeface="Calibri"/>
              </a:endParaRPr>
            </a:p>
          </p:txBody>
        </p:sp>
        <p:sp>
          <p:nvSpPr>
            <p:cNvPr id="249" name="Google Shape;249;p8"/>
            <p:cNvSpPr/>
            <p:nvPr/>
          </p:nvSpPr>
          <p:spPr>
            <a:xfrm>
              <a:off x="10058400" y="3364992"/>
              <a:ext cx="15544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168 rows</a:t>
              </a:r>
              <a:endParaRPr sz="900">
                <a:solidFill>
                  <a:schemeClr val="dk1"/>
                </a:solidFill>
                <a:latin typeface="Calibri"/>
                <a:ea typeface="Calibri"/>
                <a:cs typeface="Calibri"/>
                <a:sym typeface="Calibri"/>
              </a:endParaRPr>
            </a:p>
          </p:txBody>
        </p:sp>
      </p:grpSp>
      <p:grpSp>
        <p:nvGrpSpPr>
          <p:cNvPr id="250" name="Google Shape;250;p8"/>
          <p:cNvGrpSpPr/>
          <p:nvPr/>
        </p:nvGrpSpPr>
        <p:grpSpPr>
          <a:xfrm>
            <a:off x="8183880" y="4442233"/>
            <a:ext cx="1554480" cy="502920"/>
            <a:chOff x="8092440" y="4434840"/>
            <a:chExt cx="1554480" cy="502920"/>
          </a:xfrm>
        </p:grpSpPr>
        <p:sp>
          <p:nvSpPr>
            <p:cNvPr id="251" name="Google Shape;251;p8"/>
            <p:cNvSpPr/>
            <p:nvPr/>
          </p:nvSpPr>
          <p:spPr>
            <a:xfrm>
              <a:off x="8092440" y="4434840"/>
              <a:ext cx="1554480" cy="502920"/>
            </a:xfrm>
            <a:prstGeom prst="rect">
              <a:avLst/>
            </a:prstGeom>
            <a:solidFill>
              <a:srgbClr val="F3F4F6"/>
            </a:solidFill>
            <a:ln cap="flat" cmpd="sng" w="12700">
              <a:solidFill>
                <a:srgbClr val="336E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8"/>
            <p:cNvSpPr/>
            <p:nvPr/>
          </p:nvSpPr>
          <p:spPr>
            <a:xfrm>
              <a:off x="8092440" y="4434840"/>
              <a:ext cx="15544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dim_weather</a:t>
              </a:r>
              <a:endParaRPr sz="1100">
                <a:solidFill>
                  <a:schemeClr val="dk1"/>
                </a:solidFill>
                <a:latin typeface="Calibri"/>
                <a:ea typeface="Calibri"/>
                <a:cs typeface="Calibri"/>
                <a:sym typeface="Calibri"/>
              </a:endParaRPr>
            </a:p>
          </p:txBody>
        </p:sp>
        <p:sp>
          <p:nvSpPr>
            <p:cNvPr id="253" name="Google Shape;253;p8"/>
            <p:cNvSpPr/>
            <p:nvPr/>
          </p:nvSpPr>
          <p:spPr>
            <a:xfrm>
              <a:off x="8092440" y="4690872"/>
              <a:ext cx="15544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900"/>
                <a:buFont typeface="Calibri"/>
                <a:buNone/>
              </a:pPr>
              <a:r>
                <a:rPr lang="en-US" sz="900">
                  <a:solidFill>
                    <a:srgbClr val="6B7280"/>
                  </a:solidFill>
                  <a:latin typeface="Calibri"/>
                  <a:ea typeface="Calibri"/>
                  <a:cs typeface="Calibri"/>
                  <a:sym typeface="Calibri"/>
                </a:rPr>
                <a:t>weather keys</a:t>
              </a:r>
              <a:endParaRPr sz="900">
                <a:solidFill>
                  <a:schemeClr val="dk1"/>
                </a:solidFill>
                <a:latin typeface="Calibri"/>
                <a:ea typeface="Calibri"/>
                <a:cs typeface="Calibri"/>
                <a:sym typeface="Calibri"/>
              </a:endParaRPr>
            </a:p>
          </p:txBody>
        </p:sp>
      </p:grpSp>
      <p:sp>
        <p:nvSpPr>
          <p:cNvPr id="254" name="Google Shape;254;p8"/>
          <p:cNvSpPr/>
          <p:nvPr/>
        </p:nvSpPr>
        <p:spPr>
          <a:xfrm>
            <a:off x="6400800" y="5166360"/>
            <a:ext cx="5212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900"/>
              <a:buFont typeface="Calibri"/>
              <a:buNone/>
            </a:pPr>
            <a:r>
              <a:rPr lang="en-US" sz="900">
                <a:solidFill>
                  <a:srgbClr val="374151"/>
                </a:solidFill>
                <a:latin typeface="Calibri"/>
                <a:ea typeface="Calibri"/>
                <a:cs typeface="Calibri"/>
                <a:sym typeface="Calibri"/>
              </a:rPr>
              <a:t>5 dbt MARTS  ▸  daily_congestion_report  ·  district_overview  ·  hourly_traffic_summary  ·  rush_hour_analysis  ·  weather_impact_analysis</a:t>
            </a:r>
            <a:endParaRPr sz="900">
              <a:solidFill>
                <a:schemeClr val="dk1"/>
              </a:solidFill>
              <a:latin typeface="Calibri"/>
              <a:ea typeface="Calibri"/>
              <a:cs typeface="Calibri"/>
              <a:sym typeface="Calibri"/>
            </a:endParaRPr>
          </a:p>
        </p:txBody>
      </p:sp>
      <p:sp>
        <p:nvSpPr>
          <p:cNvPr id="255" name="Google Shape;255;p8"/>
          <p:cNvSpPr/>
          <p:nvPr/>
        </p:nvSpPr>
        <p:spPr>
          <a:xfrm>
            <a:off x="457200" y="5852160"/>
            <a:ext cx="11247120" cy="5486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8"/>
          <p:cNvSpPr/>
          <p:nvPr/>
        </p:nvSpPr>
        <p:spPr>
          <a:xfrm>
            <a:off x="640080" y="5897880"/>
            <a:ext cx="10972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100"/>
              <a:buFont typeface="Calibri"/>
              <a:buNone/>
            </a:pPr>
            <a:r>
              <a:rPr b="1" lang="en-US" sz="1100">
                <a:solidFill>
                  <a:srgbClr val="047954"/>
                </a:solidFill>
                <a:latin typeface="Calibri"/>
                <a:ea typeface="Calibri"/>
                <a:cs typeface="Calibri"/>
                <a:sym typeface="Calibri"/>
              </a:rPr>
              <a:t>DATA FLOW:  </a:t>
            </a:r>
            <a:r>
              <a:rPr lang="en-US" sz="1100">
                <a:solidFill>
                  <a:srgbClr val="374151"/>
                </a:solidFill>
                <a:latin typeface="Calibri"/>
                <a:ea typeface="Calibri"/>
                <a:cs typeface="Calibri"/>
                <a:sym typeface="Calibri"/>
              </a:rPr>
              <a:t>TomTom + OpenWeather  →  Kafka  →  </a:t>
            </a:r>
            <a:r>
              <a:rPr b="1" lang="en-US" sz="1100">
                <a:solidFill>
                  <a:srgbClr val="0FAB7D"/>
                </a:solidFill>
                <a:latin typeface="Calibri"/>
                <a:ea typeface="Calibri"/>
                <a:cs typeface="Calibri"/>
                <a:sym typeface="Calibri"/>
              </a:rPr>
              <a:t>Python Consumer</a:t>
            </a:r>
            <a:r>
              <a:rPr lang="en-US" sz="1100">
                <a:solidFill>
                  <a:srgbClr val="374151"/>
                </a:solidFill>
                <a:latin typeface="Calibri"/>
                <a:ea typeface="Calibri"/>
                <a:cs typeface="Calibri"/>
                <a:sym typeface="Calibri"/>
              </a:rPr>
              <a:t> (public)  +  </a:t>
            </a:r>
            <a:r>
              <a:rPr b="1" lang="en-US" sz="1100">
                <a:solidFill>
                  <a:srgbClr val="336EA8"/>
                </a:solidFill>
                <a:latin typeface="Calibri"/>
                <a:ea typeface="Calibri"/>
                <a:cs typeface="Calibri"/>
                <a:sym typeface="Calibri"/>
              </a:rPr>
              <a:t>Spark Streaming</a:t>
            </a:r>
            <a:r>
              <a:rPr lang="en-US" sz="1100">
                <a:solidFill>
                  <a:srgbClr val="374151"/>
                </a:solidFill>
                <a:latin typeface="Calibri"/>
                <a:ea typeface="Calibri"/>
                <a:cs typeface="Calibri"/>
                <a:sym typeface="Calibri"/>
              </a:rPr>
              <a:t> (warehouse)</a:t>
            </a:r>
            <a:endParaRPr sz="1100">
              <a:solidFill>
                <a:schemeClr val="dk1"/>
              </a:solidFill>
              <a:latin typeface="Calibri"/>
              <a:ea typeface="Calibri"/>
              <a:cs typeface="Calibri"/>
              <a:sym typeface="Calibri"/>
            </a:endParaRPr>
          </a:p>
        </p:txBody>
      </p:sp>
      <p:sp>
        <p:nvSpPr>
          <p:cNvPr id="257" name="Google Shape;257;p8"/>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9"/>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9"/>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7</a:t>
            </a:r>
            <a:r>
              <a:rPr lang="en-US" sz="1000">
                <a:solidFill>
                  <a:srgbClr val="9CA3AF"/>
                </a:solidFill>
                <a:latin typeface="Calibri"/>
                <a:ea typeface="Calibri"/>
                <a:cs typeface="Calibri"/>
                <a:sym typeface="Calibri"/>
              </a:rPr>
              <a:t> / 12</a:t>
            </a:r>
            <a:endParaRPr sz="1000">
              <a:solidFill>
                <a:schemeClr val="dk1"/>
              </a:solidFill>
              <a:latin typeface="Calibri"/>
              <a:ea typeface="Calibri"/>
              <a:cs typeface="Calibri"/>
              <a:sym typeface="Calibri"/>
            </a:endParaRPr>
          </a:p>
        </p:txBody>
      </p:sp>
      <p:sp>
        <p:nvSpPr>
          <p:cNvPr id="265" name="Google Shape;265;p9"/>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Tech Stack</a:t>
            </a:r>
            <a:endParaRPr sz="3200">
              <a:solidFill>
                <a:schemeClr val="dk1"/>
              </a:solidFill>
              <a:latin typeface="Calibri"/>
              <a:ea typeface="Calibri"/>
              <a:cs typeface="Calibri"/>
              <a:sym typeface="Calibri"/>
            </a:endParaRPr>
          </a:p>
        </p:txBody>
      </p:sp>
      <p:sp>
        <p:nvSpPr>
          <p:cNvPr id="266" name="Google Shape;266;p9"/>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Production-grade tools across every layer</a:t>
            </a:r>
            <a:endParaRPr sz="1400">
              <a:solidFill>
                <a:schemeClr val="dk1"/>
              </a:solidFill>
              <a:latin typeface="Calibri"/>
              <a:ea typeface="Calibri"/>
              <a:cs typeface="Calibri"/>
              <a:sym typeface="Calibri"/>
            </a:endParaRPr>
          </a:p>
        </p:txBody>
      </p:sp>
      <p:sp>
        <p:nvSpPr>
          <p:cNvPr id="267" name="Google Shape;267;p9"/>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9"/>
          <p:cNvSpPr/>
          <p:nvPr/>
        </p:nvSpPr>
        <p:spPr>
          <a:xfrm>
            <a:off x="457200" y="1691640"/>
            <a:ext cx="3657600" cy="2194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9"/>
          <p:cNvSpPr/>
          <p:nvPr/>
        </p:nvSpPr>
        <p:spPr>
          <a:xfrm>
            <a:off x="457200" y="1691640"/>
            <a:ext cx="365760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9"/>
          <p:cNvSpPr/>
          <p:nvPr/>
        </p:nvSpPr>
        <p:spPr>
          <a:xfrm>
            <a:off x="731520" y="1965960"/>
            <a:ext cx="502920" cy="50292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71" name="Google Shape;271;p9"/>
          <p:cNvPicPr preferRelativeResize="0"/>
          <p:nvPr/>
        </p:nvPicPr>
        <p:blipFill rotWithShape="1">
          <a:blip r:embed="rId3">
            <a:alphaModFix/>
          </a:blip>
          <a:srcRect b="0" l="0" r="0" t="0"/>
          <a:stretch/>
        </p:blipFill>
        <p:spPr>
          <a:xfrm>
            <a:off x="850392" y="2084832"/>
            <a:ext cx="274320" cy="274320"/>
          </a:xfrm>
          <a:prstGeom prst="rect">
            <a:avLst/>
          </a:prstGeom>
          <a:noFill/>
          <a:ln>
            <a:noFill/>
          </a:ln>
        </p:spPr>
      </p:pic>
      <p:sp>
        <p:nvSpPr>
          <p:cNvPr id="272" name="Google Shape;272;p9"/>
          <p:cNvSpPr/>
          <p:nvPr/>
        </p:nvSpPr>
        <p:spPr>
          <a:xfrm>
            <a:off x="1371600" y="205740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LANGUAGES</a:t>
            </a:r>
            <a:endParaRPr sz="1100">
              <a:solidFill>
                <a:schemeClr val="dk1"/>
              </a:solidFill>
              <a:latin typeface="Calibri"/>
              <a:ea typeface="Calibri"/>
              <a:cs typeface="Calibri"/>
              <a:sym typeface="Calibri"/>
            </a:endParaRPr>
          </a:p>
        </p:txBody>
      </p:sp>
      <p:sp>
        <p:nvSpPr>
          <p:cNvPr id="273" name="Google Shape;273;p9"/>
          <p:cNvSpPr/>
          <p:nvPr/>
        </p:nvSpPr>
        <p:spPr>
          <a:xfrm>
            <a:off x="777240" y="2743200"/>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9"/>
          <p:cNvSpPr/>
          <p:nvPr/>
        </p:nvSpPr>
        <p:spPr>
          <a:xfrm>
            <a:off x="960120" y="265176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Python 3.11</a:t>
            </a:r>
            <a:endParaRPr sz="1100">
              <a:solidFill>
                <a:schemeClr val="dk1"/>
              </a:solidFill>
              <a:latin typeface="Calibri"/>
              <a:ea typeface="Calibri"/>
              <a:cs typeface="Calibri"/>
              <a:sym typeface="Calibri"/>
            </a:endParaRPr>
          </a:p>
        </p:txBody>
      </p:sp>
      <p:sp>
        <p:nvSpPr>
          <p:cNvPr id="275" name="Google Shape;275;p9"/>
          <p:cNvSpPr/>
          <p:nvPr/>
        </p:nvSpPr>
        <p:spPr>
          <a:xfrm>
            <a:off x="777240" y="3035808"/>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9"/>
          <p:cNvSpPr/>
          <p:nvPr/>
        </p:nvSpPr>
        <p:spPr>
          <a:xfrm>
            <a:off x="960120" y="294436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TypeScript</a:t>
            </a:r>
            <a:endParaRPr sz="1100">
              <a:solidFill>
                <a:schemeClr val="dk1"/>
              </a:solidFill>
              <a:latin typeface="Calibri"/>
              <a:ea typeface="Calibri"/>
              <a:cs typeface="Calibri"/>
              <a:sym typeface="Calibri"/>
            </a:endParaRPr>
          </a:p>
        </p:txBody>
      </p:sp>
      <p:sp>
        <p:nvSpPr>
          <p:cNvPr id="277" name="Google Shape;277;p9"/>
          <p:cNvSpPr/>
          <p:nvPr/>
        </p:nvSpPr>
        <p:spPr>
          <a:xfrm>
            <a:off x="777240" y="3328416"/>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9"/>
          <p:cNvSpPr/>
          <p:nvPr/>
        </p:nvSpPr>
        <p:spPr>
          <a:xfrm>
            <a:off x="960120" y="3236976"/>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JavaScript</a:t>
            </a:r>
            <a:endParaRPr sz="1100">
              <a:solidFill>
                <a:schemeClr val="dk1"/>
              </a:solidFill>
              <a:latin typeface="Calibri"/>
              <a:ea typeface="Calibri"/>
              <a:cs typeface="Calibri"/>
              <a:sym typeface="Calibri"/>
            </a:endParaRPr>
          </a:p>
        </p:txBody>
      </p:sp>
      <p:sp>
        <p:nvSpPr>
          <p:cNvPr id="279" name="Google Shape;279;p9"/>
          <p:cNvSpPr/>
          <p:nvPr/>
        </p:nvSpPr>
        <p:spPr>
          <a:xfrm>
            <a:off x="777240" y="3621024"/>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9"/>
          <p:cNvSpPr/>
          <p:nvPr/>
        </p:nvSpPr>
        <p:spPr>
          <a:xfrm>
            <a:off x="960120" y="3529584"/>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SQL</a:t>
            </a:r>
            <a:endParaRPr sz="1100">
              <a:solidFill>
                <a:schemeClr val="dk1"/>
              </a:solidFill>
              <a:latin typeface="Calibri"/>
              <a:ea typeface="Calibri"/>
              <a:cs typeface="Calibri"/>
              <a:sym typeface="Calibri"/>
            </a:endParaRPr>
          </a:p>
        </p:txBody>
      </p:sp>
      <p:sp>
        <p:nvSpPr>
          <p:cNvPr id="281" name="Google Shape;281;p9"/>
          <p:cNvSpPr/>
          <p:nvPr/>
        </p:nvSpPr>
        <p:spPr>
          <a:xfrm>
            <a:off x="4389120" y="1691640"/>
            <a:ext cx="3657600" cy="2194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9"/>
          <p:cNvSpPr/>
          <p:nvPr/>
        </p:nvSpPr>
        <p:spPr>
          <a:xfrm>
            <a:off x="4389120" y="1691640"/>
            <a:ext cx="365760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9"/>
          <p:cNvSpPr/>
          <p:nvPr/>
        </p:nvSpPr>
        <p:spPr>
          <a:xfrm>
            <a:off x="4663440" y="1965960"/>
            <a:ext cx="502920" cy="50292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4" name="Google Shape;284;p9"/>
          <p:cNvPicPr preferRelativeResize="0"/>
          <p:nvPr/>
        </p:nvPicPr>
        <p:blipFill rotWithShape="1">
          <a:blip r:embed="rId4">
            <a:alphaModFix/>
          </a:blip>
          <a:srcRect b="0" l="0" r="0" t="0"/>
          <a:stretch/>
        </p:blipFill>
        <p:spPr>
          <a:xfrm>
            <a:off x="4782312" y="2084832"/>
            <a:ext cx="274320" cy="274320"/>
          </a:xfrm>
          <a:prstGeom prst="rect">
            <a:avLst/>
          </a:prstGeom>
          <a:noFill/>
          <a:ln>
            <a:noFill/>
          </a:ln>
        </p:spPr>
      </p:pic>
      <p:sp>
        <p:nvSpPr>
          <p:cNvPr id="285" name="Google Shape;285;p9"/>
          <p:cNvSpPr/>
          <p:nvPr/>
        </p:nvSpPr>
        <p:spPr>
          <a:xfrm>
            <a:off x="5303520" y="205740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STREAMING &amp; PROCESSING</a:t>
            </a:r>
            <a:endParaRPr sz="1100">
              <a:solidFill>
                <a:schemeClr val="dk1"/>
              </a:solidFill>
              <a:latin typeface="Calibri"/>
              <a:ea typeface="Calibri"/>
              <a:cs typeface="Calibri"/>
              <a:sym typeface="Calibri"/>
            </a:endParaRPr>
          </a:p>
        </p:txBody>
      </p:sp>
      <p:sp>
        <p:nvSpPr>
          <p:cNvPr id="286" name="Google Shape;286;p9"/>
          <p:cNvSpPr/>
          <p:nvPr/>
        </p:nvSpPr>
        <p:spPr>
          <a:xfrm>
            <a:off x="4709160" y="2743200"/>
            <a:ext cx="54864" cy="54864"/>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9"/>
          <p:cNvSpPr/>
          <p:nvPr/>
        </p:nvSpPr>
        <p:spPr>
          <a:xfrm>
            <a:off x="4892040" y="265176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Apache Kafka 7.4</a:t>
            </a:r>
            <a:endParaRPr sz="1100">
              <a:solidFill>
                <a:schemeClr val="dk1"/>
              </a:solidFill>
              <a:latin typeface="Calibri"/>
              <a:ea typeface="Calibri"/>
              <a:cs typeface="Calibri"/>
              <a:sym typeface="Calibri"/>
            </a:endParaRPr>
          </a:p>
        </p:txBody>
      </p:sp>
      <p:sp>
        <p:nvSpPr>
          <p:cNvPr id="288" name="Google Shape;288;p9"/>
          <p:cNvSpPr/>
          <p:nvPr/>
        </p:nvSpPr>
        <p:spPr>
          <a:xfrm>
            <a:off x="4709160" y="3035808"/>
            <a:ext cx="54864" cy="54864"/>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9"/>
          <p:cNvSpPr/>
          <p:nvPr/>
        </p:nvSpPr>
        <p:spPr>
          <a:xfrm>
            <a:off x="4892040" y="294436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Apache Spark 3.5</a:t>
            </a:r>
            <a:endParaRPr sz="1100">
              <a:solidFill>
                <a:schemeClr val="dk1"/>
              </a:solidFill>
              <a:latin typeface="Calibri"/>
              <a:ea typeface="Calibri"/>
              <a:cs typeface="Calibri"/>
              <a:sym typeface="Calibri"/>
            </a:endParaRPr>
          </a:p>
        </p:txBody>
      </p:sp>
      <p:sp>
        <p:nvSpPr>
          <p:cNvPr id="290" name="Google Shape;290;p9"/>
          <p:cNvSpPr/>
          <p:nvPr/>
        </p:nvSpPr>
        <p:spPr>
          <a:xfrm>
            <a:off x="4709160" y="3328416"/>
            <a:ext cx="54864" cy="54864"/>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9"/>
          <p:cNvSpPr/>
          <p:nvPr/>
        </p:nvSpPr>
        <p:spPr>
          <a:xfrm>
            <a:off x="4892040" y="3236976"/>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Zookeeper</a:t>
            </a:r>
            <a:endParaRPr sz="1100">
              <a:solidFill>
                <a:schemeClr val="dk1"/>
              </a:solidFill>
              <a:latin typeface="Calibri"/>
              <a:ea typeface="Calibri"/>
              <a:cs typeface="Calibri"/>
              <a:sym typeface="Calibri"/>
            </a:endParaRPr>
          </a:p>
        </p:txBody>
      </p:sp>
      <p:sp>
        <p:nvSpPr>
          <p:cNvPr id="292" name="Google Shape;292;p9"/>
          <p:cNvSpPr/>
          <p:nvPr/>
        </p:nvSpPr>
        <p:spPr>
          <a:xfrm>
            <a:off x="8321040" y="1691640"/>
            <a:ext cx="3657600" cy="2194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9"/>
          <p:cNvSpPr/>
          <p:nvPr/>
        </p:nvSpPr>
        <p:spPr>
          <a:xfrm>
            <a:off x="8321040" y="1691640"/>
            <a:ext cx="365760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9"/>
          <p:cNvSpPr/>
          <p:nvPr/>
        </p:nvSpPr>
        <p:spPr>
          <a:xfrm>
            <a:off x="8595360" y="1965960"/>
            <a:ext cx="502920" cy="50292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5" name="Google Shape;295;p9"/>
          <p:cNvPicPr preferRelativeResize="0"/>
          <p:nvPr/>
        </p:nvPicPr>
        <p:blipFill rotWithShape="1">
          <a:blip r:embed="rId5">
            <a:alphaModFix/>
          </a:blip>
          <a:srcRect b="0" l="0" r="0" t="0"/>
          <a:stretch/>
        </p:blipFill>
        <p:spPr>
          <a:xfrm>
            <a:off x="8714232" y="2084832"/>
            <a:ext cx="274320" cy="274320"/>
          </a:xfrm>
          <a:prstGeom prst="rect">
            <a:avLst/>
          </a:prstGeom>
          <a:noFill/>
          <a:ln>
            <a:noFill/>
          </a:ln>
        </p:spPr>
      </p:pic>
      <p:sp>
        <p:nvSpPr>
          <p:cNvPr id="296" name="Google Shape;296;p9"/>
          <p:cNvSpPr/>
          <p:nvPr/>
        </p:nvSpPr>
        <p:spPr>
          <a:xfrm>
            <a:off x="9235440" y="205740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STORAGE &amp; TRANSFORMATION</a:t>
            </a:r>
            <a:endParaRPr sz="1100">
              <a:solidFill>
                <a:schemeClr val="dk1"/>
              </a:solidFill>
              <a:latin typeface="Calibri"/>
              <a:ea typeface="Calibri"/>
              <a:cs typeface="Calibri"/>
              <a:sym typeface="Calibri"/>
            </a:endParaRPr>
          </a:p>
        </p:txBody>
      </p:sp>
      <p:sp>
        <p:nvSpPr>
          <p:cNvPr id="297" name="Google Shape;297;p9"/>
          <p:cNvSpPr/>
          <p:nvPr/>
        </p:nvSpPr>
        <p:spPr>
          <a:xfrm>
            <a:off x="8641080" y="2743200"/>
            <a:ext cx="54864" cy="54864"/>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9"/>
          <p:cNvSpPr/>
          <p:nvPr/>
        </p:nvSpPr>
        <p:spPr>
          <a:xfrm>
            <a:off x="8823960" y="265176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PostgreSQL + TimescaleDB</a:t>
            </a:r>
            <a:endParaRPr sz="1100">
              <a:solidFill>
                <a:schemeClr val="dk1"/>
              </a:solidFill>
              <a:latin typeface="Calibri"/>
              <a:ea typeface="Calibri"/>
              <a:cs typeface="Calibri"/>
              <a:sym typeface="Calibri"/>
            </a:endParaRPr>
          </a:p>
        </p:txBody>
      </p:sp>
      <p:sp>
        <p:nvSpPr>
          <p:cNvPr id="299" name="Google Shape;299;p9"/>
          <p:cNvSpPr/>
          <p:nvPr/>
        </p:nvSpPr>
        <p:spPr>
          <a:xfrm>
            <a:off x="8641080" y="3035808"/>
            <a:ext cx="54864" cy="54864"/>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9"/>
          <p:cNvSpPr/>
          <p:nvPr/>
        </p:nvSpPr>
        <p:spPr>
          <a:xfrm>
            <a:off x="8823960" y="294436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dbt (6 models)</a:t>
            </a:r>
            <a:endParaRPr sz="1100">
              <a:solidFill>
                <a:schemeClr val="dk1"/>
              </a:solidFill>
              <a:latin typeface="Calibri"/>
              <a:ea typeface="Calibri"/>
              <a:cs typeface="Calibri"/>
              <a:sym typeface="Calibri"/>
            </a:endParaRPr>
          </a:p>
        </p:txBody>
      </p:sp>
      <p:sp>
        <p:nvSpPr>
          <p:cNvPr id="301" name="Google Shape;301;p9"/>
          <p:cNvSpPr/>
          <p:nvPr/>
        </p:nvSpPr>
        <p:spPr>
          <a:xfrm>
            <a:off x="457200" y="4023360"/>
            <a:ext cx="3657600" cy="2194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9"/>
          <p:cNvSpPr/>
          <p:nvPr/>
        </p:nvSpPr>
        <p:spPr>
          <a:xfrm>
            <a:off x="457200" y="4023360"/>
            <a:ext cx="3657600" cy="73152"/>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9"/>
          <p:cNvSpPr/>
          <p:nvPr/>
        </p:nvSpPr>
        <p:spPr>
          <a:xfrm>
            <a:off x="731520" y="4297680"/>
            <a:ext cx="502920" cy="502920"/>
          </a:xfrm>
          <a:prstGeom prst="ellipse">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4" name="Google Shape;304;p9"/>
          <p:cNvPicPr preferRelativeResize="0"/>
          <p:nvPr/>
        </p:nvPicPr>
        <p:blipFill rotWithShape="1">
          <a:blip r:embed="rId6">
            <a:alphaModFix/>
          </a:blip>
          <a:srcRect b="0" l="0" r="0" t="0"/>
          <a:stretch/>
        </p:blipFill>
        <p:spPr>
          <a:xfrm>
            <a:off x="850392" y="4416552"/>
            <a:ext cx="274320" cy="274320"/>
          </a:xfrm>
          <a:prstGeom prst="rect">
            <a:avLst/>
          </a:prstGeom>
          <a:noFill/>
          <a:ln>
            <a:noFill/>
          </a:ln>
        </p:spPr>
      </p:pic>
      <p:sp>
        <p:nvSpPr>
          <p:cNvPr id="305" name="Google Shape;305;p9"/>
          <p:cNvSpPr/>
          <p:nvPr/>
        </p:nvSpPr>
        <p:spPr>
          <a:xfrm>
            <a:off x="1371600" y="438912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MACHINE LEARNING &amp; AI</a:t>
            </a:r>
            <a:endParaRPr sz="1100">
              <a:solidFill>
                <a:schemeClr val="dk1"/>
              </a:solidFill>
              <a:latin typeface="Calibri"/>
              <a:ea typeface="Calibri"/>
              <a:cs typeface="Calibri"/>
              <a:sym typeface="Calibri"/>
            </a:endParaRPr>
          </a:p>
        </p:txBody>
      </p:sp>
      <p:sp>
        <p:nvSpPr>
          <p:cNvPr id="306" name="Google Shape;306;p9"/>
          <p:cNvSpPr/>
          <p:nvPr/>
        </p:nvSpPr>
        <p:spPr>
          <a:xfrm>
            <a:off x="777240" y="5074920"/>
            <a:ext cx="54864" cy="54864"/>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9"/>
          <p:cNvSpPr/>
          <p:nvPr/>
        </p:nvSpPr>
        <p:spPr>
          <a:xfrm>
            <a:off x="960120" y="49834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scikit-learn (RF + IF)</a:t>
            </a:r>
            <a:endParaRPr sz="1100">
              <a:solidFill>
                <a:schemeClr val="dk1"/>
              </a:solidFill>
              <a:latin typeface="Calibri"/>
              <a:ea typeface="Calibri"/>
              <a:cs typeface="Calibri"/>
              <a:sym typeface="Calibri"/>
            </a:endParaRPr>
          </a:p>
        </p:txBody>
      </p:sp>
      <p:sp>
        <p:nvSpPr>
          <p:cNvPr id="308" name="Google Shape;308;p9"/>
          <p:cNvSpPr/>
          <p:nvPr/>
        </p:nvSpPr>
        <p:spPr>
          <a:xfrm>
            <a:off x="777240" y="5367528"/>
            <a:ext cx="54864" cy="54864"/>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9"/>
          <p:cNvSpPr/>
          <p:nvPr/>
        </p:nvSpPr>
        <p:spPr>
          <a:xfrm>
            <a:off x="960120" y="527608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LightGBM (6 models)</a:t>
            </a:r>
            <a:endParaRPr sz="1100">
              <a:solidFill>
                <a:schemeClr val="dk1"/>
              </a:solidFill>
              <a:latin typeface="Calibri"/>
              <a:ea typeface="Calibri"/>
              <a:cs typeface="Calibri"/>
              <a:sym typeface="Calibri"/>
            </a:endParaRPr>
          </a:p>
        </p:txBody>
      </p:sp>
      <p:sp>
        <p:nvSpPr>
          <p:cNvPr id="310" name="Google Shape;310;p9"/>
          <p:cNvSpPr/>
          <p:nvPr/>
        </p:nvSpPr>
        <p:spPr>
          <a:xfrm>
            <a:off x="777240" y="5660136"/>
            <a:ext cx="54864" cy="54864"/>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9"/>
          <p:cNvSpPr/>
          <p:nvPr/>
        </p:nvSpPr>
        <p:spPr>
          <a:xfrm>
            <a:off x="960120" y="5568696"/>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SHAP explainers</a:t>
            </a:r>
            <a:endParaRPr sz="1100">
              <a:solidFill>
                <a:schemeClr val="dk1"/>
              </a:solidFill>
              <a:latin typeface="Calibri"/>
              <a:ea typeface="Calibri"/>
              <a:cs typeface="Calibri"/>
              <a:sym typeface="Calibri"/>
            </a:endParaRPr>
          </a:p>
        </p:txBody>
      </p:sp>
      <p:sp>
        <p:nvSpPr>
          <p:cNvPr id="312" name="Google Shape;312;p9"/>
          <p:cNvSpPr/>
          <p:nvPr/>
        </p:nvSpPr>
        <p:spPr>
          <a:xfrm>
            <a:off x="777240" y="5952744"/>
            <a:ext cx="54864" cy="54864"/>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9"/>
          <p:cNvSpPr/>
          <p:nvPr/>
        </p:nvSpPr>
        <p:spPr>
          <a:xfrm>
            <a:off x="960120" y="5861304"/>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Google Gemini 2.5 Flash</a:t>
            </a:r>
            <a:endParaRPr sz="1100">
              <a:solidFill>
                <a:schemeClr val="dk1"/>
              </a:solidFill>
              <a:latin typeface="Calibri"/>
              <a:ea typeface="Calibri"/>
              <a:cs typeface="Calibri"/>
              <a:sym typeface="Calibri"/>
            </a:endParaRPr>
          </a:p>
        </p:txBody>
      </p:sp>
      <p:sp>
        <p:nvSpPr>
          <p:cNvPr id="314" name="Google Shape;314;p9"/>
          <p:cNvSpPr/>
          <p:nvPr/>
        </p:nvSpPr>
        <p:spPr>
          <a:xfrm>
            <a:off x="4389120" y="4023360"/>
            <a:ext cx="3657600" cy="21945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9"/>
          <p:cNvSpPr/>
          <p:nvPr/>
        </p:nvSpPr>
        <p:spPr>
          <a:xfrm>
            <a:off x="4389120" y="4023360"/>
            <a:ext cx="365760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9"/>
          <p:cNvSpPr/>
          <p:nvPr/>
        </p:nvSpPr>
        <p:spPr>
          <a:xfrm>
            <a:off x="4663440" y="4297680"/>
            <a:ext cx="502920" cy="50292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17" name="Google Shape;317;p9"/>
          <p:cNvPicPr preferRelativeResize="0"/>
          <p:nvPr/>
        </p:nvPicPr>
        <p:blipFill rotWithShape="1">
          <a:blip r:embed="rId7">
            <a:alphaModFix/>
          </a:blip>
          <a:srcRect b="0" l="0" r="0" t="0"/>
          <a:stretch/>
        </p:blipFill>
        <p:spPr>
          <a:xfrm>
            <a:off x="4782312" y="4416552"/>
            <a:ext cx="274320" cy="274320"/>
          </a:xfrm>
          <a:prstGeom prst="rect">
            <a:avLst/>
          </a:prstGeom>
          <a:noFill/>
          <a:ln>
            <a:noFill/>
          </a:ln>
        </p:spPr>
      </p:pic>
      <p:sp>
        <p:nvSpPr>
          <p:cNvPr id="318" name="Google Shape;318;p9"/>
          <p:cNvSpPr/>
          <p:nvPr/>
        </p:nvSpPr>
        <p:spPr>
          <a:xfrm>
            <a:off x="5303520" y="438912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ORCHESTRATION &amp; INFRA</a:t>
            </a:r>
            <a:endParaRPr sz="1100">
              <a:solidFill>
                <a:schemeClr val="dk1"/>
              </a:solidFill>
              <a:latin typeface="Calibri"/>
              <a:ea typeface="Calibri"/>
              <a:cs typeface="Calibri"/>
              <a:sym typeface="Calibri"/>
            </a:endParaRPr>
          </a:p>
        </p:txBody>
      </p:sp>
      <p:sp>
        <p:nvSpPr>
          <p:cNvPr id="319" name="Google Shape;319;p9"/>
          <p:cNvSpPr/>
          <p:nvPr/>
        </p:nvSpPr>
        <p:spPr>
          <a:xfrm>
            <a:off x="4709160" y="5074920"/>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9"/>
          <p:cNvSpPr/>
          <p:nvPr/>
        </p:nvSpPr>
        <p:spPr>
          <a:xfrm>
            <a:off x="4892040" y="49834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Apache Airflow 2.10 (3 DAGs)</a:t>
            </a:r>
            <a:endParaRPr sz="1100">
              <a:solidFill>
                <a:schemeClr val="dk1"/>
              </a:solidFill>
              <a:latin typeface="Calibri"/>
              <a:ea typeface="Calibri"/>
              <a:cs typeface="Calibri"/>
              <a:sym typeface="Calibri"/>
            </a:endParaRPr>
          </a:p>
        </p:txBody>
      </p:sp>
      <p:sp>
        <p:nvSpPr>
          <p:cNvPr id="321" name="Google Shape;321;p9"/>
          <p:cNvSpPr/>
          <p:nvPr/>
        </p:nvSpPr>
        <p:spPr>
          <a:xfrm>
            <a:off x="4709160" y="5367528"/>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9"/>
          <p:cNvSpPr/>
          <p:nvPr/>
        </p:nvSpPr>
        <p:spPr>
          <a:xfrm>
            <a:off x="4892040" y="527608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Docker Compose (9 services)</a:t>
            </a:r>
            <a:endParaRPr sz="1100">
              <a:solidFill>
                <a:schemeClr val="dk1"/>
              </a:solidFill>
              <a:latin typeface="Calibri"/>
              <a:ea typeface="Calibri"/>
              <a:cs typeface="Calibri"/>
              <a:sym typeface="Calibri"/>
            </a:endParaRPr>
          </a:p>
        </p:txBody>
      </p:sp>
      <p:sp>
        <p:nvSpPr>
          <p:cNvPr id="323" name="Google Shape;323;p9"/>
          <p:cNvSpPr/>
          <p:nvPr/>
        </p:nvSpPr>
        <p:spPr>
          <a:xfrm>
            <a:off x="4709160" y="5660136"/>
            <a:ext cx="54864" cy="54864"/>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9"/>
          <p:cNvSpPr/>
          <p:nvPr/>
        </p:nvSpPr>
        <p:spPr>
          <a:xfrm>
            <a:off x="4892040" y="5568696"/>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Kafdrop, Spark UI</a:t>
            </a:r>
            <a:endParaRPr sz="1100">
              <a:solidFill>
                <a:schemeClr val="dk1"/>
              </a:solidFill>
              <a:latin typeface="Calibri"/>
              <a:ea typeface="Calibri"/>
              <a:cs typeface="Calibri"/>
              <a:sym typeface="Calibri"/>
            </a:endParaRPr>
          </a:p>
        </p:txBody>
      </p:sp>
      <p:sp>
        <p:nvSpPr>
          <p:cNvPr id="325" name="Google Shape;325;p9"/>
          <p:cNvSpPr/>
          <p:nvPr/>
        </p:nvSpPr>
        <p:spPr>
          <a:xfrm>
            <a:off x="8321040" y="4023360"/>
            <a:ext cx="3657600" cy="219450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9"/>
          <p:cNvSpPr/>
          <p:nvPr/>
        </p:nvSpPr>
        <p:spPr>
          <a:xfrm>
            <a:off x="8321040" y="4023360"/>
            <a:ext cx="365760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9"/>
          <p:cNvSpPr/>
          <p:nvPr/>
        </p:nvSpPr>
        <p:spPr>
          <a:xfrm>
            <a:off x="8595360" y="4297680"/>
            <a:ext cx="502920" cy="50292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28" name="Google Shape;328;p9"/>
          <p:cNvPicPr preferRelativeResize="0"/>
          <p:nvPr/>
        </p:nvPicPr>
        <p:blipFill rotWithShape="1">
          <a:blip r:embed="rId8">
            <a:alphaModFix/>
          </a:blip>
          <a:srcRect b="0" l="0" r="0" t="0"/>
          <a:stretch/>
        </p:blipFill>
        <p:spPr>
          <a:xfrm>
            <a:off x="8714232" y="4416552"/>
            <a:ext cx="274320" cy="274320"/>
          </a:xfrm>
          <a:prstGeom prst="rect">
            <a:avLst/>
          </a:prstGeom>
          <a:noFill/>
          <a:ln>
            <a:noFill/>
          </a:ln>
        </p:spPr>
      </p:pic>
      <p:sp>
        <p:nvSpPr>
          <p:cNvPr id="329" name="Google Shape;329;p9"/>
          <p:cNvSpPr/>
          <p:nvPr/>
        </p:nvSpPr>
        <p:spPr>
          <a:xfrm>
            <a:off x="9235440" y="4389120"/>
            <a:ext cx="2560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US" sz="1100">
                <a:solidFill>
                  <a:srgbClr val="1F2937"/>
                </a:solidFill>
                <a:latin typeface="Calibri"/>
                <a:ea typeface="Calibri"/>
                <a:cs typeface="Calibri"/>
                <a:sym typeface="Calibri"/>
              </a:rPr>
              <a:t>FRONTEND &amp; API</a:t>
            </a:r>
            <a:endParaRPr sz="1100">
              <a:solidFill>
                <a:schemeClr val="dk1"/>
              </a:solidFill>
              <a:latin typeface="Calibri"/>
              <a:ea typeface="Calibri"/>
              <a:cs typeface="Calibri"/>
              <a:sym typeface="Calibri"/>
            </a:endParaRPr>
          </a:p>
        </p:txBody>
      </p:sp>
      <p:sp>
        <p:nvSpPr>
          <p:cNvPr id="330" name="Google Shape;330;p9"/>
          <p:cNvSpPr/>
          <p:nvPr/>
        </p:nvSpPr>
        <p:spPr>
          <a:xfrm>
            <a:off x="8641080" y="5074920"/>
            <a:ext cx="54864" cy="54864"/>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9"/>
          <p:cNvSpPr/>
          <p:nvPr/>
        </p:nvSpPr>
        <p:spPr>
          <a:xfrm>
            <a:off x="8823960" y="49834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React 18 + Vite + Tailwind</a:t>
            </a:r>
            <a:endParaRPr sz="1100">
              <a:solidFill>
                <a:schemeClr val="dk1"/>
              </a:solidFill>
              <a:latin typeface="Calibri"/>
              <a:ea typeface="Calibri"/>
              <a:cs typeface="Calibri"/>
              <a:sym typeface="Calibri"/>
            </a:endParaRPr>
          </a:p>
        </p:txBody>
      </p:sp>
      <p:sp>
        <p:nvSpPr>
          <p:cNvPr id="332" name="Google Shape;332;p9"/>
          <p:cNvSpPr/>
          <p:nvPr/>
        </p:nvSpPr>
        <p:spPr>
          <a:xfrm>
            <a:off x="8641080" y="5367528"/>
            <a:ext cx="54864" cy="54864"/>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9"/>
          <p:cNvSpPr/>
          <p:nvPr/>
        </p:nvSpPr>
        <p:spPr>
          <a:xfrm>
            <a:off x="8823960" y="5276088"/>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Recharts</a:t>
            </a:r>
            <a:endParaRPr sz="1100">
              <a:solidFill>
                <a:schemeClr val="dk1"/>
              </a:solidFill>
              <a:latin typeface="Calibri"/>
              <a:ea typeface="Calibri"/>
              <a:cs typeface="Calibri"/>
              <a:sym typeface="Calibri"/>
            </a:endParaRPr>
          </a:p>
        </p:txBody>
      </p:sp>
      <p:sp>
        <p:nvSpPr>
          <p:cNvPr id="334" name="Google Shape;334;p9"/>
          <p:cNvSpPr/>
          <p:nvPr/>
        </p:nvSpPr>
        <p:spPr>
          <a:xfrm>
            <a:off x="8641080" y="5660136"/>
            <a:ext cx="54900" cy="54900"/>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9"/>
          <p:cNvSpPr/>
          <p:nvPr/>
        </p:nvSpPr>
        <p:spPr>
          <a:xfrm>
            <a:off x="8823960" y="5568696"/>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Express + node-postgres</a:t>
            </a:r>
            <a:endParaRPr sz="1100">
              <a:solidFill>
                <a:schemeClr val="dk1"/>
              </a:solidFill>
              <a:latin typeface="Calibri"/>
              <a:ea typeface="Calibri"/>
              <a:cs typeface="Calibri"/>
              <a:sym typeface="Calibri"/>
            </a:endParaRPr>
          </a:p>
        </p:txBody>
      </p:sp>
      <p:sp>
        <p:nvSpPr>
          <p:cNvPr id="336" name="Google Shape;336;p9"/>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10"/>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0"/>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8</a:t>
            </a:r>
            <a:r>
              <a:rPr lang="en-US" sz="1000">
                <a:solidFill>
                  <a:srgbClr val="9CA3AF"/>
                </a:solidFill>
                <a:latin typeface="Calibri"/>
                <a:ea typeface="Calibri"/>
                <a:cs typeface="Calibri"/>
                <a:sym typeface="Calibri"/>
              </a:rPr>
              <a:t> / 12</a:t>
            </a:r>
            <a:endParaRPr sz="1000">
              <a:solidFill>
                <a:schemeClr val="dk1"/>
              </a:solidFill>
              <a:latin typeface="Calibri"/>
              <a:ea typeface="Calibri"/>
              <a:cs typeface="Calibri"/>
              <a:sym typeface="Calibri"/>
            </a:endParaRPr>
          </a:p>
        </p:txBody>
      </p:sp>
      <p:sp>
        <p:nvSpPr>
          <p:cNvPr id="344" name="Google Shape;344;p10"/>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Live Application &amp; Testing</a:t>
            </a:r>
            <a:endParaRPr sz="3200">
              <a:solidFill>
                <a:schemeClr val="dk1"/>
              </a:solidFill>
              <a:latin typeface="Calibri"/>
              <a:ea typeface="Calibri"/>
              <a:cs typeface="Calibri"/>
              <a:sym typeface="Calibri"/>
            </a:endParaRPr>
          </a:p>
        </p:txBody>
      </p:sp>
      <p:sp>
        <p:nvSpPr>
          <p:cNvPr id="345" name="Google Shape;345;p10"/>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Status: fully operational, validated end-to-end</a:t>
            </a:r>
            <a:endParaRPr sz="1400">
              <a:solidFill>
                <a:schemeClr val="dk1"/>
              </a:solidFill>
              <a:latin typeface="Calibri"/>
              <a:ea typeface="Calibri"/>
              <a:cs typeface="Calibri"/>
              <a:sym typeface="Calibri"/>
            </a:endParaRPr>
          </a:p>
        </p:txBody>
      </p:sp>
      <p:sp>
        <p:nvSpPr>
          <p:cNvPr id="346" name="Google Shape;346;p10"/>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0"/>
          <p:cNvSpPr/>
          <p:nvPr/>
        </p:nvSpPr>
        <p:spPr>
          <a:xfrm>
            <a:off x="457200" y="1691640"/>
            <a:ext cx="4114800" cy="502920"/>
          </a:xfrm>
          <a:prstGeom prst="rect">
            <a:avLst/>
          </a:prstGeom>
          <a:solidFill>
            <a:srgbClr val="0FAB7D">
              <a:alpha val="14901"/>
            </a:srgbClr>
          </a:solidFill>
          <a:ln cap="flat" cmpd="sng" w="19050">
            <a:solidFill>
              <a:srgbClr val="0FAB7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0"/>
          <p:cNvSpPr/>
          <p:nvPr/>
        </p:nvSpPr>
        <p:spPr>
          <a:xfrm>
            <a:off x="731520" y="1874520"/>
            <a:ext cx="228600" cy="22860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0"/>
          <p:cNvSpPr/>
          <p:nvPr/>
        </p:nvSpPr>
        <p:spPr>
          <a:xfrm>
            <a:off x="1051560" y="1691640"/>
            <a:ext cx="3520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300"/>
              <a:buFont typeface="Calibri"/>
              <a:buNone/>
            </a:pPr>
            <a:r>
              <a:rPr b="1" lang="en-US" sz="1300">
                <a:solidFill>
                  <a:srgbClr val="047954"/>
                </a:solidFill>
                <a:latin typeface="Calibri"/>
                <a:ea typeface="Calibri"/>
                <a:cs typeface="Calibri"/>
                <a:sym typeface="Calibri"/>
              </a:rPr>
              <a:t>● OPERATIONAL  ·  All systems running</a:t>
            </a:r>
            <a:endParaRPr sz="1300">
              <a:solidFill>
                <a:schemeClr val="dk1"/>
              </a:solidFill>
              <a:latin typeface="Calibri"/>
              <a:ea typeface="Calibri"/>
              <a:cs typeface="Calibri"/>
              <a:sym typeface="Calibri"/>
            </a:endParaRPr>
          </a:p>
        </p:txBody>
      </p:sp>
      <p:sp>
        <p:nvSpPr>
          <p:cNvPr id="350" name="Google Shape;350;p10"/>
          <p:cNvSpPr/>
          <p:nvPr/>
        </p:nvSpPr>
        <p:spPr>
          <a:xfrm>
            <a:off x="457200" y="2423160"/>
            <a:ext cx="3657600" cy="1554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0"/>
          <p:cNvSpPr/>
          <p:nvPr/>
        </p:nvSpPr>
        <p:spPr>
          <a:xfrm>
            <a:off x="457200" y="2423160"/>
            <a:ext cx="365760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0"/>
          <p:cNvSpPr/>
          <p:nvPr/>
        </p:nvSpPr>
        <p:spPr>
          <a:xfrm>
            <a:off x="731520" y="2697480"/>
            <a:ext cx="502920" cy="50292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3" name="Google Shape;353;p10"/>
          <p:cNvPicPr preferRelativeResize="0"/>
          <p:nvPr/>
        </p:nvPicPr>
        <p:blipFill rotWithShape="1">
          <a:blip r:embed="rId3">
            <a:alphaModFix/>
          </a:blip>
          <a:srcRect b="0" l="0" r="0" t="0"/>
          <a:stretch/>
        </p:blipFill>
        <p:spPr>
          <a:xfrm>
            <a:off x="850392" y="2816352"/>
            <a:ext cx="274320" cy="274320"/>
          </a:xfrm>
          <a:prstGeom prst="rect">
            <a:avLst/>
          </a:prstGeom>
          <a:noFill/>
          <a:ln>
            <a:noFill/>
          </a:ln>
        </p:spPr>
      </p:pic>
      <p:sp>
        <p:nvSpPr>
          <p:cNvPr id="354" name="Google Shape;354;p10"/>
          <p:cNvSpPr/>
          <p:nvPr/>
        </p:nvSpPr>
        <p:spPr>
          <a:xfrm>
            <a:off x="1371600" y="269748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Unit Testing</a:t>
            </a:r>
            <a:endParaRPr sz="1400">
              <a:solidFill>
                <a:schemeClr val="dk1"/>
              </a:solidFill>
              <a:latin typeface="Calibri"/>
              <a:ea typeface="Calibri"/>
              <a:cs typeface="Calibri"/>
              <a:sym typeface="Calibri"/>
            </a:endParaRPr>
          </a:p>
        </p:txBody>
      </p:sp>
      <p:sp>
        <p:nvSpPr>
          <p:cNvPr id="355" name="Google Shape;355;p10"/>
          <p:cNvSpPr/>
          <p:nvPr/>
        </p:nvSpPr>
        <p:spPr>
          <a:xfrm>
            <a:off x="1371600" y="2990088"/>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954"/>
              </a:buClr>
              <a:buSzPts val="1100"/>
              <a:buFont typeface="Calibri"/>
              <a:buNone/>
            </a:pPr>
            <a:r>
              <a:rPr b="1" lang="en-US" sz="1100">
                <a:solidFill>
                  <a:srgbClr val="047954"/>
                </a:solidFill>
                <a:latin typeface="Calibri"/>
                <a:ea typeface="Calibri"/>
                <a:cs typeface="Calibri"/>
                <a:sym typeface="Calibri"/>
              </a:rPr>
              <a:t>100% pass</a:t>
            </a:r>
            <a:endParaRPr sz="1100">
              <a:solidFill>
                <a:schemeClr val="dk1"/>
              </a:solidFill>
              <a:latin typeface="Calibri"/>
              <a:ea typeface="Calibri"/>
              <a:cs typeface="Calibri"/>
              <a:sym typeface="Calibri"/>
            </a:endParaRPr>
          </a:p>
        </p:txBody>
      </p:sp>
      <p:sp>
        <p:nvSpPr>
          <p:cNvPr id="356" name="Google Shape;356;p10"/>
          <p:cNvSpPr/>
          <p:nvPr/>
        </p:nvSpPr>
        <p:spPr>
          <a:xfrm>
            <a:off x="731520" y="338328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ML inference, DQ checks, lag calculations</a:t>
            </a:r>
            <a:endParaRPr sz="1100">
              <a:solidFill>
                <a:schemeClr val="dk1"/>
              </a:solidFill>
              <a:latin typeface="Calibri"/>
              <a:ea typeface="Calibri"/>
              <a:cs typeface="Calibri"/>
              <a:sym typeface="Calibri"/>
            </a:endParaRPr>
          </a:p>
        </p:txBody>
      </p:sp>
      <p:sp>
        <p:nvSpPr>
          <p:cNvPr id="357" name="Google Shape;357;p10"/>
          <p:cNvSpPr/>
          <p:nvPr/>
        </p:nvSpPr>
        <p:spPr>
          <a:xfrm>
            <a:off x="4389120" y="2423160"/>
            <a:ext cx="3657600" cy="1554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0"/>
          <p:cNvSpPr/>
          <p:nvPr/>
        </p:nvSpPr>
        <p:spPr>
          <a:xfrm>
            <a:off x="4389120" y="2423160"/>
            <a:ext cx="365760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0"/>
          <p:cNvSpPr/>
          <p:nvPr/>
        </p:nvSpPr>
        <p:spPr>
          <a:xfrm>
            <a:off x="4663440" y="2697480"/>
            <a:ext cx="502920" cy="50292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60" name="Google Shape;360;p10"/>
          <p:cNvPicPr preferRelativeResize="0"/>
          <p:nvPr/>
        </p:nvPicPr>
        <p:blipFill rotWithShape="1">
          <a:blip r:embed="rId4">
            <a:alphaModFix/>
          </a:blip>
          <a:srcRect b="0" l="0" r="0" t="0"/>
          <a:stretch/>
        </p:blipFill>
        <p:spPr>
          <a:xfrm>
            <a:off x="4782312" y="2816352"/>
            <a:ext cx="274320" cy="274320"/>
          </a:xfrm>
          <a:prstGeom prst="rect">
            <a:avLst/>
          </a:prstGeom>
          <a:noFill/>
          <a:ln>
            <a:noFill/>
          </a:ln>
        </p:spPr>
      </p:pic>
      <p:sp>
        <p:nvSpPr>
          <p:cNvPr id="361" name="Google Shape;361;p10"/>
          <p:cNvSpPr/>
          <p:nvPr/>
        </p:nvSpPr>
        <p:spPr>
          <a:xfrm>
            <a:off x="5303520" y="269748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Integration</a:t>
            </a:r>
            <a:endParaRPr sz="1400">
              <a:solidFill>
                <a:schemeClr val="dk1"/>
              </a:solidFill>
              <a:latin typeface="Calibri"/>
              <a:ea typeface="Calibri"/>
              <a:cs typeface="Calibri"/>
              <a:sym typeface="Calibri"/>
            </a:endParaRPr>
          </a:p>
        </p:txBody>
      </p:sp>
      <p:sp>
        <p:nvSpPr>
          <p:cNvPr id="362" name="Google Shape;362;p10"/>
          <p:cNvSpPr/>
          <p:nvPr/>
        </p:nvSpPr>
        <p:spPr>
          <a:xfrm>
            <a:off x="5303520" y="2990088"/>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AB7D"/>
              </a:buClr>
              <a:buSzPts val="1100"/>
              <a:buFont typeface="Calibri"/>
              <a:buNone/>
            </a:pPr>
            <a:r>
              <a:rPr b="1" lang="en-US" sz="1100">
                <a:solidFill>
                  <a:srgbClr val="0FAB7D"/>
                </a:solidFill>
                <a:latin typeface="Calibri"/>
                <a:ea typeface="Calibri"/>
                <a:cs typeface="Calibri"/>
                <a:sym typeface="Calibri"/>
              </a:rPr>
              <a:t>Verified</a:t>
            </a:r>
            <a:endParaRPr sz="1100">
              <a:solidFill>
                <a:schemeClr val="dk1"/>
              </a:solidFill>
              <a:latin typeface="Calibri"/>
              <a:ea typeface="Calibri"/>
              <a:cs typeface="Calibri"/>
              <a:sym typeface="Calibri"/>
            </a:endParaRPr>
          </a:p>
        </p:txBody>
      </p:sp>
      <p:sp>
        <p:nvSpPr>
          <p:cNvPr id="363" name="Google Shape;363;p10"/>
          <p:cNvSpPr/>
          <p:nvPr/>
        </p:nvSpPr>
        <p:spPr>
          <a:xfrm>
            <a:off x="4663440" y="338328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Producer → Kafka → Consumer → DB end-to-end</a:t>
            </a:r>
            <a:endParaRPr sz="1100">
              <a:solidFill>
                <a:schemeClr val="dk1"/>
              </a:solidFill>
              <a:latin typeface="Calibri"/>
              <a:ea typeface="Calibri"/>
              <a:cs typeface="Calibri"/>
              <a:sym typeface="Calibri"/>
            </a:endParaRPr>
          </a:p>
        </p:txBody>
      </p:sp>
      <p:sp>
        <p:nvSpPr>
          <p:cNvPr id="364" name="Google Shape;364;p10"/>
          <p:cNvSpPr/>
          <p:nvPr/>
        </p:nvSpPr>
        <p:spPr>
          <a:xfrm>
            <a:off x="8321040" y="2423160"/>
            <a:ext cx="3657600" cy="1554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0"/>
          <p:cNvSpPr/>
          <p:nvPr/>
        </p:nvSpPr>
        <p:spPr>
          <a:xfrm>
            <a:off x="8321040" y="2423160"/>
            <a:ext cx="365760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0"/>
          <p:cNvSpPr/>
          <p:nvPr/>
        </p:nvSpPr>
        <p:spPr>
          <a:xfrm>
            <a:off x="8595360" y="2697480"/>
            <a:ext cx="502920" cy="50292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67" name="Google Shape;367;p10"/>
          <p:cNvPicPr preferRelativeResize="0"/>
          <p:nvPr/>
        </p:nvPicPr>
        <p:blipFill rotWithShape="1">
          <a:blip r:embed="rId5">
            <a:alphaModFix/>
          </a:blip>
          <a:srcRect b="0" l="0" r="0" t="0"/>
          <a:stretch/>
        </p:blipFill>
        <p:spPr>
          <a:xfrm>
            <a:off x="8714232" y="2816352"/>
            <a:ext cx="274320" cy="274320"/>
          </a:xfrm>
          <a:prstGeom prst="rect">
            <a:avLst/>
          </a:prstGeom>
          <a:noFill/>
          <a:ln>
            <a:noFill/>
          </a:ln>
        </p:spPr>
      </p:pic>
      <p:sp>
        <p:nvSpPr>
          <p:cNvPr id="368" name="Google Shape;368;p10"/>
          <p:cNvSpPr/>
          <p:nvPr/>
        </p:nvSpPr>
        <p:spPr>
          <a:xfrm>
            <a:off x="9235440" y="269748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b="1" lang="en-US" sz="1400">
                <a:solidFill>
                  <a:srgbClr val="1F2937"/>
                </a:solidFill>
                <a:latin typeface="Calibri"/>
                <a:ea typeface="Calibri"/>
                <a:cs typeface="Calibri"/>
                <a:sym typeface="Calibri"/>
              </a:rPr>
              <a:t>Operational</a:t>
            </a:r>
            <a:endParaRPr sz="1400">
              <a:solidFill>
                <a:schemeClr val="dk1"/>
              </a:solidFill>
              <a:latin typeface="Calibri"/>
              <a:ea typeface="Calibri"/>
              <a:cs typeface="Calibri"/>
              <a:sym typeface="Calibri"/>
            </a:endParaRPr>
          </a:p>
        </p:txBody>
      </p:sp>
      <p:sp>
        <p:nvSpPr>
          <p:cNvPr id="369" name="Google Shape;369;p10"/>
          <p:cNvSpPr/>
          <p:nvPr/>
        </p:nvSpPr>
        <p:spPr>
          <a:xfrm>
            <a:off x="9235440" y="2990088"/>
            <a:ext cx="2651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6EA8"/>
              </a:buClr>
              <a:buSzPts val="1100"/>
              <a:buFont typeface="Calibri"/>
              <a:buNone/>
            </a:pPr>
            <a:r>
              <a:rPr b="1" lang="en-US" sz="1100">
                <a:solidFill>
                  <a:srgbClr val="336EA8"/>
                </a:solidFill>
                <a:latin typeface="Calibri"/>
                <a:ea typeface="Calibri"/>
                <a:cs typeface="Calibri"/>
                <a:sym typeface="Calibri"/>
              </a:rPr>
              <a:t>Zero crashes</a:t>
            </a:r>
            <a:endParaRPr sz="1100">
              <a:solidFill>
                <a:schemeClr val="dk1"/>
              </a:solidFill>
              <a:latin typeface="Calibri"/>
              <a:ea typeface="Calibri"/>
              <a:cs typeface="Calibri"/>
              <a:sym typeface="Calibri"/>
            </a:endParaRPr>
          </a:p>
        </p:txBody>
      </p:sp>
      <p:sp>
        <p:nvSpPr>
          <p:cNvPr id="370" name="Google Shape;370;p10"/>
          <p:cNvSpPr/>
          <p:nvPr/>
        </p:nvSpPr>
        <p:spPr>
          <a:xfrm>
            <a:off x="8595360" y="338328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6+ hours continuous run with monitoring</a:t>
            </a:r>
            <a:endParaRPr sz="1100">
              <a:solidFill>
                <a:schemeClr val="dk1"/>
              </a:solidFill>
              <a:latin typeface="Calibri"/>
              <a:ea typeface="Calibri"/>
              <a:cs typeface="Calibri"/>
              <a:sym typeface="Calibri"/>
            </a:endParaRPr>
          </a:p>
        </p:txBody>
      </p:sp>
      <p:sp>
        <p:nvSpPr>
          <p:cNvPr id="371" name="Google Shape;371;p10"/>
          <p:cNvSpPr/>
          <p:nvPr/>
        </p:nvSpPr>
        <p:spPr>
          <a:xfrm>
            <a:off x="457200" y="4160520"/>
            <a:ext cx="11247120" cy="196596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0"/>
          <p:cNvSpPr/>
          <p:nvPr/>
        </p:nvSpPr>
        <p:spPr>
          <a:xfrm>
            <a:off x="640080" y="429768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VERIFIED METRICS</a:t>
            </a:r>
            <a:endParaRPr sz="1100">
              <a:solidFill>
                <a:schemeClr val="dk1"/>
              </a:solidFill>
              <a:latin typeface="Calibri"/>
              <a:ea typeface="Calibri"/>
              <a:cs typeface="Calibri"/>
              <a:sym typeface="Calibri"/>
            </a:endParaRPr>
          </a:p>
        </p:txBody>
      </p:sp>
      <p:sp>
        <p:nvSpPr>
          <p:cNvPr id="373" name="Google Shape;373;p10"/>
          <p:cNvSpPr/>
          <p:nvPr/>
        </p:nvSpPr>
        <p:spPr>
          <a:xfrm>
            <a:off x="640080" y="47091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98.3%</a:t>
            </a:r>
            <a:endParaRPr sz="2800">
              <a:solidFill>
                <a:schemeClr val="dk1"/>
              </a:solidFill>
              <a:latin typeface="Calibri"/>
              <a:ea typeface="Calibri"/>
              <a:cs typeface="Calibri"/>
              <a:sym typeface="Calibri"/>
            </a:endParaRPr>
          </a:p>
        </p:txBody>
      </p:sp>
      <p:sp>
        <p:nvSpPr>
          <p:cNvPr id="374" name="Google Shape;374;p10"/>
          <p:cNvSpPr/>
          <p:nvPr/>
        </p:nvSpPr>
        <p:spPr>
          <a:xfrm>
            <a:off x="1783080" y="47548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RF classification accuracy</a:t>
            </a:r>
            <a:endParaRPr sz="1100">
              <a:solidFill>
                <a:schemeClr val="dk1"/>
              </a:solidFill>
              <a:latin typeface="Calibri"/>
              <a:ea typeface="Calibri"/>
              <a:cs typeface="Calibri"/>
              <a:sym typeface="Calibri"/>
            </a:endParaRPr>
          </a:p>
        </p:txBody>
      </p:sp>
      <p:sp>
        <p:nvSpPr>
          <p:cNvPr id="375" name="Google Shape;375;p10"/>
          <p:cNvSpPr/>
          <p:nvPr/>
        </p:nvSpPr>
        <p:spPr>
          <a:xfrm>
            <a:off x="4389120" y="47091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0.91</a:t>
            </a:r>
            <a:endParaRPr sz="2800">
              <a:solidFill>
                <a:schemeClr val="dk1"/>
              </a:solidFill>
              <a:latin typeface="Calibri"/>
              <a:ea typeface="Calibri"/>
              <a:cs typeface="Calibri"/>
              <a:sym typeface="Calibri"/>
            </a:endParaRPr>
          </a:p>
        </p:txBody>
      </p:sp>
      <p:sp>
        <p:nvSpPr>
          <p:cNvPr id="376" name="Google Shape;376;p10"/>
          <p:cNvSpPr/>
          <p:nvPr/>
        </p:nvSpPr>
        <p:spPr>
          <a:xfrm>
            <a:off x="5532120" y="47548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Forecast R² at +60 min</a:t>
            </a:r>
            <a:endParaRPr sz="1100">
              <a:solidFill>
                <a:schemeClr val="dk1"/>
              </a:solidFill>
              <a:latin typeface="Calibri"/>
              <a:ea typeface="Calibri"/>
              <a:cs typeface="Calibri"/>
              <a:sym typeface="Calibri"/>
            </a:endParaRPr>
          </a:p>
        </p:txBody>
      </p:sp>
      <p:sp>
        <p:nvSpPr>
          <p:cNvPr id="377" name="Google Shape;377;p10"/>
          <p:cNvSpPr/>
          <p:nvPr/>
        </p:nvSpPr>
        <p:spPr>
          <a:xfrm>
            <a:off x="8138160" y="47091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4%</a:t>
            </a:r>
            <a:endParaRPr sz="2800">
              <a:solidFill>
                <a:schemeClr val="dk1"/>
              </a:solidFill>
              <a:latin typeface="Calibri"/>
              <a:ea typeface="Calibri"/>
              <a:cs typeface="Calibri"/>
              <a:sym typeface="Calibri"/>
            </a:endParaRPr>
          </a:p>
        </p:txBody>
      </p:sp>
      <p:sp>
        <p:nvSpPr>
          <p:cNvPr id="378" name="Google Shape;378;p10"/>
          <p:cNvSpPr/>
          <p:nvPr/>
        </p:nvSpPr>
        <p:spPr>
          <a:xfrm>
            <a:off x="9281160" y="47548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Anomaly false positives (from 56%)</a:t>
            </a:r>
            <a:endParaRPr sz="1100">
              <a:solidFill>
                <a:schemeClr val="dk1"/>
              </a:solidFill>
              <a:latin typeface="Calibri"/>
              <a:ea typeface="Calibri"/>
              <a:cs typeface="Calibri"/>
              <a:sym typeface="Calibri"/>
            </a:endParaRPr>
          </a:p>
        </p:txBody>
      </p:sp>
      <p:sp>
        <p:nvSpPr>
          <p:cNvPr id="379" name="Google Shape;379;p10"/>
          <p:cNvSpPr/>
          <p:nvPr/>
        </p:nvSpPr>
        <p:spPr>
          <a:xfrm>
            <a:off x="640080" y="53949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100%</a:t>
            </a:r>
            <a:endParaRPr sz="2800">
              <a:solidFill>
                <a:schemeClr val="dk1"/>
              </a:solidFill>
              <a:latin typeface="Calibri"/>
              <a:ea typeface="Calibri"/>
              <a:cs typeface="Calibri"/>
              <a:sym typeface="Calibri"/>
            </a:endParaRPr>
          </a:p>
        </p:txBody>
      </p:sp>
      <p:sp>
        <p:nvSpPr>
          <p:cNvPr id="380" name="Google Shape;380;p10"/>
          <p:cNvSpPr/>
          <p:nvPr/>
        </p:nvSpPr>
        <p:spPr>
          <a:xfrm>
            <a:off x="1783080" y="54406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DQ pass rate</a:t>
            </a:r>
            <a:endParaRPr sz="1100">
              <a:solidFill>
                <a:schemeClr val="dk1"/>
              </a:solidFill>
              <a:latin typeface="Calibri"/>
              <a:ea typeface="Calibri"/>
              <a:cs typeface="Calibri"/>
              <a:sym typeface="Calibri"/>
            </a:endParaRPr>
          </a:p>
        </p:txBody>
      </p:sp>
      <p:sp>
        <p:nvSpPr>
          <p:cNvPr id="381" name="Google Shape;381;p10"/>
          <p:cNvSpPr/>
          <p:nvPr/>
        </p:nvSpPr>
        <p:spPr>
          <a:xfrm>
            <a:off x="4389120" y="53949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22/25</a:t>
            </a:r>
            <a:endParaRPr sz="2800">
              <a:solidFill>
                <a:schemeClr val="dk1"/>
              </a:solidFill>
              <a:latin typeface="Calibri"/>
              <a:ea typeface="Calibri"/>
              <a:cs typeface="Calibri"/>
              <a:sym typeface="Calibri"/>
            </a:endParaRPr>
          </a:p>
        </p:txBody>
      </p:sp>
      <p:sp>
        <p:nvSpPr>
          <p:cNvPr id="382" name="Google Shape;382;p10"/>
          <p:cNvSpPr/>
          <p:nvPr/>
        </p:nvSpPr>
        <p:spPr>
          <a:xfrm>
            <a:off x="5532120" y="54406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Locations producing live forecasts</a:t>
            </a:r>
            <a:endParaRPr sz="1100">
              <a:solidFill>
                <a:schemeClr val="dk1"/>
              </a:solidFill>
              <a:latin typeface="Calibri"/>
              <a:ea typeface="Calibri"/>
              <a:cs typeface="Calibri"/>
              <a:sym typeface="Calibri"/>
            </a:endParaRPr>
          </a:p>
        </p:txBody>
      </p:sp>
      <p:sp>
        <p:nvSpPr>
          <p:cNvPr id="383" name="Google Shape;383;p10"/>
          <p:cNvSpPr/>
          <p:nvPr/>
        </p:nvSpPr>
        <p:spPr>
          <a:xfrm>
            <a:off x="8138160" y="5394960"/>
            <a:ext cx="1097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B119"/>
              </a:buClr>
              <a:buSzPts val="2800"/>
              <a:buFont typeface="Calibri"/>
              <a:buNone/>
            </a:pPr>
            <a:r>
              <a:rPr b="1" lang="en-US" sz="2800">
                <a:solidFill>
                  <a:srgbClr val="D7B119"/>
                </a:solidFill>
                <a:latin typeface="Calibri"/>
                <a:ea typeface="Calibri"/>
                <a:cs typeface="Calibri"/>
                <a:sym typeface="Calibri"/>
              </a:rPr>
              <a:t>&lt;30s</a:t>
            </a:r>
            <a:endParaRPr sz="2800">
              <a:solidFill>
                <a:schemeClr val="dk1"/>
              </a:solidFill>
              <a:latin typeface="Calibri"/>
              <a:ea typeface="Calibri"/>
              <a:cs typeface="Calibri"/>
              <a:sym typeface="Calibri"/>
            </a:endParaRPr>
          </a:p>
        </p:txBody>
      </p:sp>
      <p:sp>
        <p:nvSpPr>
          <p:cNvPr id="384" name="Google Shape;384;p10"/>
          <p:cNvSpPr/>
          <p:nvPr/>
        </p:nvSpPr>
        <p:spPr>
          <a:xfrm>
            <a:off x="9281160" y="544068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Dashboard refresh latency</a:t>
            </a:r>
            <a:endParaRPr sz="1100">
              <a:solidFill>
                <a:schemeClr val="dk1"/>
              </a:solidFill>
              <a:latin typeface="Calibri"/>
              <a:ea typeface="Calibri"/>
              <a:cs typeface="Calibri"/>
              <a:sym typeface="Calibri"/>
            </a:endParaRPr>
          </a:p>
        </p:txBody>
      </p:sp>
      <p:sp>
        <p:nvSpPr>
          <p:cNvPr id="385" name="Google Shape;385;p10"/>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1"/>
          <p:cNvSpPr/>
          <p:nvPr/>
        </p:nvSpPr>
        <p:spPr>
          <a:xfrm>
            <a:off x="0" y="0"/>
            <a:ext cx="12191700" cy="13710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1"/>
          <p:cNvSpPr/>
          <p:nvPr/>
        </p:nvSpPr>
        <p:spPr>
          <a:xfrm>
            <a:off x="11430000" y="6492240"/>
            <a:ext cx="6402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9 </a:t>
            </a:r>
            <a:r>
              <a:rPr lang="en-US" sz="1000">
                <a:solidFill>
                  <a:srgbClr val="9CA3AF"/>
                </a:solidFill>
                <a:latin typeface="Calibri"/>
                <a:ea typeface="Calibri"/>
                <a:cs typeface="Calibri"/>
                <a:sym typeface="Calibri"/>
              </a:rPr>
              <a:t>/ 12</a:t>
            </a:r>
            <a:endParaRPr sz="1000">
              <a:solidFill>
                <a:schemeClr val="dk1"/>
              </a:solidFill>
              <a:latin typeface="Calibri"/>
              <a:ea typeface="Calibri"/>
              <a:cs typeface="Calibri"/>
              <a:sym typeface="Calibri"/>
            </a:endParaRPr>
          </a:p>
        </p:txBody>
      </p:sp>
      <p:sp>
        <p:nvSpPr>
          <p:cNvPr id="392" name="Google Shape;392;p11"/>
          <p:cNvSpPr/>
          <p:nvPr/>
        </p:nvSpPr>
        <p:spPr>
          <a:xfrm>
            <a:off x="640080" y="320040"/>
            <a:ext cx="10972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Demo</a:t>
            </a:r>
            <a:endParaRPr sz="3200">
              <a:solidFill>
                <a:schemeClr val="dk1"/>
              </a:solidFill>
              <a:latin typeface="Calibri"/>
              <a:ea typeface="Calibri"/>
              <a:cs typeface="Calibri"/>
              <a:sym typeface="Calibri"/>
            </a:endParaRPr>
          </a:p>
        </p:txBody>
      </p:sp>
      <p:sp>
        <p:nvSpPr>
          <p:cNvPr id="393" name="Google Shape;393;p11"/>
          <p:cNvSpPr/>
          <p:nvPr/>
        </p:nvSpPr>
        <p:spPr>
          <a:xfrm>
            <a:off x="457200" y="365760"/>
            <a:ext cx="73200" cy="50280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1"/>
          <p:cNvSpPr/>
          <p:nvPr/>
        </p:nvSpPr>
        <p:spPr>
          <a:xfrm>
            <a:off x="274320" y="6492240"/>
            <a:ext cx="3657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pic>
        <p:nvPicPr>
          <p:cNvPr id="395" name="Google Shape;395;p11" title="Demo.mp4">
            <a:hlinkClick r:id="rId3"/>
          </p:cNvPr>
          <p:cNvPicPr preferRelativeResize="0"/>
          <p:nvPr/>
        </p:nvPicPr>
        <p:blipFill>
          <a:blip r:embed="rId4">
            <a:alphaModFix/>
          </a:blip>
          <a:stretch>
            <a:fillRect/>
          </a:stretch>
        </p:blipFill>
        <p:spPr>
          <a:xfrm>
            <a:off x="1724025" y="1112640"/>
            <a:ext cx="9292800" cy="522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12"/>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2"/>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10 </a:t>
            </a:r>
            <a:r>
              <a:rPr lang="en-US" sz="1000">
                <a:solidFill>
                  <a:srgbClr val="9CA3AF"/>
                </a:solidFill>
                <a:latin typeface="Calibri"/>
                <a:ea typeface="Calibri"/>
                <a:cs typeface="Calibri"/>
                <a:sym typeface="Calibri"/>
              </a:rPr>
              <a:t>/ 12</a:t>
            </a:r>
            <a:endParaRPr sz="1000">
              <a:solidFill>
                <a:schemeClr val="dk1"/>
              </a:solidFill>
              <a:latin typeface="Calibri"/>
              <a:ea typeface="Calibri"/>
              <a:cs typeface="Calibri"/>
              <a:sym typeface="Calibri"/>
            </a:endParaRPr>
          </a:p>
        </p:txBody>
      </p:sp>
      <p:sp>
        <p:nvSpPr>
          <p:cNvPr id="403" name="Google Shape;403;p12"/>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Project Deliverables</a:t>
            </a:r>
            <a:endParaRPr sz="3200">
              <a:solidFill>
                <a:schemeClr val="dk1"/>
              </a:solidFill>
              <a:latin typeface="Calibri"/>
              <a:ea typeface="Calibri"/>
              <a:cs typeface="Calibri"/>
              <a:sym typeface="Calibri"/>
            </a:endParaRPr>
          </a:p>
        </p:txBody>
      </p:sp>
      <p:sp>
        <p:nvSpPr>
          <p:cNvPr id="404" name="Google Shape;404;p12"/>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Everything submitted for evaluation</a:t>
            </a:r>
            <a:endParaRPr sz="1400">
              <a:solidFill>
                <a:schemeClr val="dk1"/>
              </a:solidFill>
              <a:latin typeface="Calibri"/>
              <a:ea typeface="Calibri"/>
              <a:cs typeface="Calibri"/>
              <a:sym typeface="Calibri"/>
            </a:endParaRPr>
          </a:p>
        </p:txBody>
      </p:sp>
      <p:sp>
        <p:nvSpPr>
          <p:cNvPr id="405" name="Google Shape;405;p12"/>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2"/>
          <p:cNvSpPr/>
          <p:nvPr/>
        </p:nvSpPr>
        <p:spPr>
          <a:xfrm>
            <a:off x="457200" y="1691640"/>
            <a:ext cx="5577840" cy="21488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2"/>
          <p:cNvSpPr/>
          <p:nvPr/>
        </p:nvSpPr>
        <p:spPr>
          <a:xfrm>
            <a:off x="457200" y="1691640"/>
            <a:ext cx="557784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2"/>
          <p:cNvSpPr/>
          <p:nvPr/>
        </p:nvSpPr>
        <p:spPr>
          <a:xfrm>
            <a:off x="777240" y="2011680"/>
            <a:ext cx="640080" cy="64008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09" name="Google Shape;409;p12"/>
          <p:cNvPicPr preferRelativeResize="0"/>
          <p:nvPr/>
        </p:nvPicPr>
        <p:blipFill rotWithShape="1">
          <a:blip r:embed="rId3">
            <a:alphaModFix/>
          </a:blip>
          <a:srcRect b="0" l="0" r="0" t="0"/>
          <a:stretch/>
        </p:blipFill>
        <p:spPr>
          <a:xfrm>
            <a:off x="914400" y="2148840"/>
            <a:ext cx="365760" cy="365760"/>
          </a:xfrm>
          <a:prstGeom prst="rect">
            <a:avLst/>
          </a:prstGeom>
          <a:noFill/>
          <a:ln>
            <a:noFill/>
          </a:ln>
        </p:spPr>
      </p:pic>
      <p:sp>
        <p:nvSpPr>
          <p:cNvPr id="410" name="Google Shape;410;p12"/>
          <p:cNvSpPr/>
          <p:nvPr/>
        </p:nvSpPr>
        <p:spPr>
          <a:xfrm>
            <a:off x="1600200" y="205740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Documentation</a:t>
            </a:r>
            <a:endParaRPr sz="1800">
              <a:solidFill>
                <a:schemeClr val="dk1"/>
              </a:solidFill>
              <a:latin typeface="Calibri"/>
              <a:ea typeface="Calibri"/>
              <a:cs typeface="Calibri"/>
              <a:sym typeface="Calibri"/>
            </a:endParaRPr>
          </a:p>
        </p:txBody>
      </p:sp>
      <p:pic>
        <p:nvPicPr>
          <p:cNvPr descr="preencoded.png" id="411" name="Google Shape;411;p12"/>
          <p:cNvPicPr preferRelativeResize="0"/>
          <p:nvPr/>
        </p:nvPicPr>
        <p:blipFill rotWithShape="1">
          <a:blip r:embed="rId4">
            <a:alphaModFix/>
          </a:blip>
          <a:srcRect b="0" l="0" r="0" t="0"/>
          <a:stretch/>
        </p:blipFill>
        <p:spPr>
          <a:xfrm>
            <a:off x="914400" y="2779776"/>
            <a:ext cx="164592" cy="164592"/>
          </a:xfrm>
          <a:prstGeom prst="rect">
            <a:avLst/>
          </a:prstGeom>
          <a:noFill/>
          <a:ln>
            <a:noFill/>
          </a:ln>
        </p:spPr>
      </p:pic>
      <p:sp>
        <p:nvSpPr>
          <p:cNvPr id="412" name="Google Shape;412;p12"/>
          <p:cNvSpPr/>
          <p:nvPr/>
        </p:nvSpPr>
        <p:spPr>
          <a:xfrm>
            <a:off x="1143000" y="274320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Project Description (1 page)</a:t>
            </a:r>
            <a:endParaRPr sz="1100">
              <a:solidFill>
                <a:schemeClr val="dk1"/>
              </a:solidFill>
              <a:latin typeface="Calibri"/>
              <a:ea typeface="Calibri"/>
              <a:cs typeface="Calibri"/>
              <a:sym typeface="Calibri"/>
            </a:endParaRPr>
          </a:p>
        </p:txBody>
      </p:sp>
      <p:pic>
        <p:nvPicPr>
          <p:cNvPr descr="preencoded.png" id="413" name="Google Shape;413;p12"/>
          <p:cNvPicPr preferRelativeResize="0"/>
          <p:nvPr/>
        </p:nvPicPr>
        <p:blipFill rotWithShape="1">
          <a:blip r:embed="rId4">
            <a:alphaModFix/>
          </a:blip>
          <a:srcRect b="0" l="0" r="0" t="0"/>
          <a:stretch/>
        </p:blipFill>
        <p:spPr>
          <a:xfrm>
            <a:off x="914400" y="3035808"/>
            <a:ext cx="164592" cy="164592"/>
          </a:xfrm>
          <a:prstGeom prst="rect">
            <a:avLst/>
          </a:prstGeom>
          <a:noFill/>
          <a:ln>
            <a:noFill/>
          </a:ln>
        </p:spPr>
      </p:pic>
      <p:sp>
        <p:nvSpPr>
          <p:cNvPr id="414" name="Google Shape;414;p12"/>
          <p:cNvSpPr/>
          <p:nvPr/>
        </p:nvSpPr>
        <p:spPr>
          <a:xfrm>
            <a:off x="1143000" y="2999232"/>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Full Technical Documentation</a:t>
            </a:r>
            <a:endParaRPr sz="1100">
              <a:solidFill>
                <a:schemeClr val="dk1"/>
              </a:solidFill>
              <a:latin typeface="Calibri"/>
              <a:ea typeface="Calibri"/>
              <a:cs typeface="Calibri"/>
              <a:sym typeface="Calibri"/>
            </a:endParaRPr>
          </a:p>
        </p:txBody>
      </p:sp>
      <p:pic>
        <p:nvPicPr>
          <p:cNvPr descr="preencoded.png" id="415" name="Google Shape;415;p12"/>
          <p:cNvPicPr preferRelativeResize="0"/>
          <p:nvPr/>
        </p:nvPicPr>
        <p:blipFill rotWithShape="1">
          <a:blip r:embed="rId4">
            <a:alphaModFix/>
          </a:blip>
          <a:srcRect b="0" l="0" r="0" t="0"/>
          <a:stretch/>
        </p:blipFill>
        <p:spPr>
          <a:xfrm>
            <a:off x="914400" y="3291840"/>
            <a:ext cx="164592" cy="164592"/>
          </a:xfrm>
          <a:prstGeom prst="rect">
            <a:avLst/>
          </a:prstGeom>
          <a:noFill/>
          <a:ln>
            <a:noFill/>
          </a:ln>
        </p:spPr>
      </p:pic>
      <p:sp>
        <p:nvSpPr>
          <p:cNvPr id="416" name="Google Shape;416;p12"/>
          <p:cNvSpPr/>
          <p:nvPr/>
        </p:nvSpPr>
        <p:spPr>
          <a:xfrm>
            <a:off x="1143000" y="3255264"/>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Traffic Recommendations Report</a:t>
            </a:r>
            <a:endParaRPr sz="1100">
              <a:solidFill>
                <a:schemeClr val="dk1"/>
              </a:solidFill>
              <a:latin typeface="Calibri"/>
              <a:ea typeface="Calibri"/>
              <a:cs typeface="Calibri"/>
              <a:sym typeface="Calibri"/>
            </a:endParaRPr>
          </a:p>
        </p:txBody>
      </p:sp>
      <p:pic>
        <p:nvPicPr>
          <p:cNvPr descr="preencoded.png" id="417" name="Google Shape;417;p12"/>
          <p:cNvPicPr preferRelativeResize="0"/>
          <p:nvPr/>
        </p:nvPicPr>
        <p:blipFill rotWithShape="1">
          <a:blip r:embed="rId4">
            <a:alphaModFix/>
          </a:blip>
          <a:srcRect b="0" l="0" r="0" t="0"/>
          <a:stretch/>
        </p:blipFill>
        <p:spPr>
          <a:xfrm>
            <a:off x="914400" y="3547872"/>
            <a:ext cx="164592" cy="164592"/>
          </a:xfrm>
          <a:prstGeom prst="rect">
            <a:avLst/>
          </a:prstGeom>
          <a:noFill/>
          <a:ln>
            <a:noFill/>
          </a:ln>
        </p:spPr>
      </p:pic>
      <p:sp>
        <p:nvSpPr>
          <p:cNvPr id="418" name="Google Shape;418;p12"/>
          <p:cNvSpPr/>
          <p:nvPr/>
        </p:nvSpPr>
        <p:spPr>
          <a:xfrm>
            <a:off x="1143000" y="3511296"/>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Architecture diagrams</a:t>
            </a:r>
            <a:endParaRPr sz="1100">
              <a:solidFill>
                <a:schemeClr val="dk1"/>
              </a:solidFill>
              <a:latin typeface="Calibri"/>
              <a:ea typeface="Calibri"/>
              <a:cs typeface="Calibri"/>
              <a:sym typeface="Calibri"/>
            </a:endParaRPr>
          </a:p>
        </p:txBody>
      </p:sp>
      <p:sp>
        <p:nvSpPr>
          <p:cNvPr id="419" name="Google Shape;419;p12"/>
          <p:cNvSpPr/>
          <p:nvPr/>
        </p:nvSpPr>
        <p:spPr>
          <a:xfrm>
            <a:off x="6309360" y="1691640"/>
            <a:ext cx="5577840" cy="21488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2"/>
          <p:cNvSpPr/>
          <p:nvPr/>
        </p:nvSpPr>
        <p:spPr>
          <a:xfrm>
            <a:off x="6309360" y="1691640"/>
            <a:ext cx="557784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2"/>
          <p:cNvSpPr/>
          <p:nvPr/>
        </p:nvSpPr>
        <p:spPr>
          <a:xfrm>
            <a:off x="6629400" y="2011680"/>
            <a:ext cx="640080" cy="64008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22" name="Google Shape;422;p12"/>
          <p:cNvPicPr preferRelativeResize="0"/>
          <p:nvPr/>
        </p:nvPicPr>
        <p:blipFill rotWithShape="1">
          <a:blip r:embed="rId5">
            <a:alphaModFix/>
          </a:blip>
          <a:srcRect b="0" l="0" r="0" t="0"/>
          <a:stretch/>
        </p:blipFill>
        <p:spPr>
          <a:xfrm>
            <a:off x="6766560" y="2148840"/>
            <a:ext cx="365760" cy="365760"/>
          </a:xfrm>
          <a:prstGeom prst="rect">
            <a:avLst/>
          </a:prstGeom>
          <a:noFill/>
          <a:ln>
            <a:noFill/>
          </a:ln>
        </p:spPr>
      </p:pic>
      <p:sp>
        <p:nvSpPr>
          <p:cNvPr id="423" name="Google Shape;423;p12"/>
          <p:cNvSpPr/>
          <p:nvPr/>
        </p:nvSpPr>
        <p:spPr>
          <a:xfrm>
            <a:off x="7452360" y="205740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Source Code</a:t>
            </a:r>
            <a:endParaRPr sz="1800">
              <a:solidFill>
                <a:schemeClr val="dk1"/>
              </a:solidFill>
              <a:latin typeface="Calibri"/>
              <a:ea typeface="Calibri"/>
              <a:cs typeface="Calibri"/>
              <a:sym typeface="Calibri"/>
            </a:endParaRPr>
          </a:p>
        </p:txBody>
      </p:sp>
      <p:pic>
        <p:nvPicPr>
          <p:cNvPr descr="preencoded.png" id="424" name="Google Shape;424;p12"/>
          <p:cNvPicPr preferRelativeResize="0"/>
          <p:nvPr/>
        </p:nvPicPr>
        <p:blipFill rotWithShape="1">
          <a:blip r:embed="rId4">
            <a:alphaModFix/>
          </a:blip>
          <a:srcRect b="0" l="0" r="0" t="0"/>
          <a:stretch/>
        </p:blipFill>
        <p:spPr>
          <a:xfrm>
            <a:off x="6766560" y="2779776"/>
            <a:ext cx="164592" cy="164592"/>
          </a:xfrm>
          <a:prstGeom prst="rect">
            <a:avLst/>
          </a:prstGeom>
          <a:noFill/>
          <a:ln>
            <a:noFill/>
          </a:ln>
        </p:spPr>
      </p:pic>
      <p:sp>
        <p:nvSpPr>
          <p:cNvPr id="425" name="Google Shape;425;p12"/>
          <p:cNvSpPr/>
          <p:nvPr/>
        </p:nvSpPr>
        <p:spPr>
          <a:xfrm>
            <a:off x="6995160" y="274320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GitHub repository (public)</a:t>
            </a:r>
            <a:endParaRPr sz="1100">
              <a:solidFill>
                <a:schemeClr val="dk1"/>
              </a:solidFill>
              <a:latin typeface="Calibri"/>
              <a:ea typeface="Calibri"/>
              <a:cs typeface="Calibri"/>
              <a:sym typeface="Calibri"/>
            </a:endParaRPr>
          </a:p>
        </p:txBody>
      </p:sp>
      <p:pic>
        <p:nvPicPr>
          <p:cNvPr descr="preencoded.png" id="426" name="Google Shape;426;p12"/>
          <p:cNvPicPr preferRelativeResize="0"/>
          <p:nvPr/>
        </p:nvPicPr>
        <p:blipFill rotWithShape="1">
          <a:blip r:embed="rId4">
            <a:alphaModFix/>
          </a:blip>
          <a:srcRect b="0" l="0" r="0" t="0"/>
          <a:stretch/>
        </p:blipFill>
        <p:spPr>
          <a:xfrm>
            <a:off x="6766560" y="3035808"/>
            <a:ext cx="164592" cy="164592"/>
          </a:xfrm>
          <a:prstGeom prst="rect">
            <a:avLst/>
          </a:prstGeom>
          <a:noFill/>
          <a:ln>
            <a:noFill/>
          </a:ln>
        </p:spPr>
      </p:pic>
      <p:sp>
        <p:nvSpPr>
          <p:cNvPr id="427" name="Google Shape;427;p12"/>
          <p:cNvSpPr/>
          <p:nvPr/>
        </p:nvSpPr>
        <p:spPr>
          <a:xfrm>
            <a:off x="6995160" y="2999232"/>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Complete .zip archive</a:t>
            </a:r>
            <a:endParaRPr sz="1100">
              <a:solidFill>
                <a:schemeClr val="dk1"/>
              </a:solidFill>
              <a:latin typeface="Calibri"/>
              <a:ea typeface="Calibri"/>
              <a:cs typeface="Calibri"/>
              <a:sym typeface="Calibri"/>
            </a:endParaRPr>
          </a:p>
        </p:txBody>
      </p:sp>
      <p:pic>
        <p:nvPicPr>
          <p:cNvPr descr="preencoded.png" id="428" name="Google Shape;428;p12"/>
          <p:cNvPicPr preferRelativeResize="0"/>
          <p:nvPr/>
        </p:nvPicPr>
        <p:blipFill rotWithShape="1">
          <a:blip r:embed="rId4">
            <a:alphaModFix/>
          </a:blip>
          <a:srcRect b="0" l="0" r="0" t="0"/>
          <a:stretch/>
        </p:blipFill>
        <p:spPr>
          <a:xfrm>
            <a:off x="6766560" y="3291840"/>
            <a:ext cx="164592" cy="164592"/>
          </a:xfrm>
          <a:prstGeom prst="rect">
            <a:avLst/>
          </a:prstGeom>
          <a:noFill/>
          <a:ln>
            <a:noFill/>
          </a:ln>
        </p:spPr>
      </p:pic>
      <p:sp>
        <p:nvSpPr>
          <p:cNvPr id="429" name="Google Shape;429;p12"/>
          <p:cNvSpPr/>
          <p:nvPr/>
        </p:nvSpPr>
        <p:spPr>
          <a:xfrm>
            <a:off x="6995160" y="3255264"/>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Setup scripts (start_all.ps1)</a:t>
            </a:r>
            <a:endParaRPr sz="1100">
              <a:solidFill>
                <a:schemeClr val="dk1"/>
              </a:solidFill>
              <a:latin typeface="Calibri"/>
              <a:ea typeface="Calibri"/>
              <a:cs typeface="Calibri"/>
              <a:sym typeface="Calibri"/>
            </a:endParaRPr>
          </a:p>
        </p:txBody>
      </p:sp>
      <p:pic>
        <p:nvPicPr>
          <p:cNvPr descr="preencoded.png" id="430" name="Google Shape;430;p12"/>
          <p:cNvPicPr preferRelativeResize="0"/>
          <p:nvPr/>
        </p:nvPicPr>
        <p:blipFill rotWithShape="1">
          <a:blip r:embed="rId4">
            <a:alphaModFix/>
          </a:blip>
          <a:srcRect b="0" l="0" r="0" t="0"/>
          <a:stretch/>
        </p:blipFill>
        <p:spPr>
          <a:xfrm>
            <a:off x="6766560" y="3547872"/>
            <a:ext cx="164592" cy="164592"/>
          </a:xfrm>
          <a:prstGeom prst="rect">
            <a:avLst/>
          </a:prstGeom>
          <a:noFill/>
          <a:ln>
            <a:noFill/>
          </a:ln>
        </p:spPr>
      </p:pic>
      <p:sp>
        <p:nvSpPr>
          <p:cNvPr id="431" name="Google Shape;431;p12"/>
          <p:cNvSpPr/>
          <p:nvPr/>
        </p:nvSpPr>
        <p:spPr>
          <a:xfrm>
            <a:off x="6995160" y="3511296"/>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Docker Compose configuration</a:t>
            </a:r>
            <a:endParaRPr sz="1100">
              <a:solidFill>
                <a:schemeClr val="dk1"/>
              </a:solidFill>
              <a:latin typeface="Calibri"/>
              <a:ea typeface="Calibri"/>
              <a:cs typeface="Calibri"/>
              <a:sym typeface="Calibri"/>
            </a:endParaRPr>
          </a:p>
        </p:txBody>
      </p:sp>
      <p:sp>
        <p:nvSpPr>
          <p:cNvPr id="432" name="Google Shape;432;p12"/>
          <p:cNvSpPr/>
          <p:nvPr/>
        </p:nvSpPr>
        <p:spPr>
          <a:xfrm>
            <a:off x="457200" y="3977640"/>
            <a:ext cx="5577840" cy="21488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2"/>
          <p:cNvSpPr/>
          <p:nvPr/>
        </p:nvSpPr>
        <p:spPr>
          <a:xfrm>
            <a:off x="457200" y="3977640"/>
            <a:ext cx="557784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2"/>
          <p:cNvSpPr/>
          <p:nvPr/>
        </p:nvSpPr>
        <p:spPr>
          <a:xfrm>
            <a:off x="777240" y="4297680"/>
            <a:ext cx="640080" cy="64008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35" name="Google Shape;435;p12"/>
          <p:cNvPicPr preferRelativeResize="0"/>
          <p:nvPr/>
        </p:nvPicPr>
        <p:blipFill rotWithShape="1">
          <a:blip r:embed="rId6">
            <a:alphaModFix/>
          </a:blip>
          <a:srcRect b="0" l="0" r="0" t="0"/>
          <a:stretch/>
        </p:blipFill>
        <p:spPr>
          <a:xfrm>
            <a:off x="914400" y="4434840"/>
            <a:ext cx="365760" cy="365760"/>
          </a:xfrm>
          <a:prstGeom prst="rect">
            <a:avLst/>
          </a:prstGeom>
          <a:noFill/>
          <a:ln>
            <a:noFill/>
          </a:ln>
        </p:spPr>
      </p:pic>
      <p:sp>
        <p:nvSpPr>
          <p:cNvPr id="436" name="Google Shape;436;p12"/>
          <p:cNvSpPr/>
          <p:nvPr/>
        </p:nvSpPr>
        <p:spPr>
          <a:xfrm>
            <a:off x="1600200" y="434340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Working System</a:t>
            </a:r>
            <a:endParaRPr sz="1800">
              <a:solidFill>
                <a:schemeClr val="dk1"/>
              </a:solidFill>
              <a:latin typeface="Calibri"/>
              <a:ea typeface="Calibri"/>
              <a:cs typeface="Calibri"/>
              <a:sym typeface="Calibri"/>
            </a:endParaRPr>
          </a:p>
        </p:txBody>
      </p:sp>
      <p:pic>
        <p:nvPicPr>
          <p:cNvPr descr="preencoded.png" id="437" name="Google Shape;437;p12"/>
          <p:cNvPicPr preferRelativeResize="0"/>
          <p:nvPr/>
        </p:nvPicPr>
        <p:blipFill rotWithShape="1">
          <a:blip r:embed="rId4">
            <a:alphaModFix/>
          </a:blip>
          <a:srcRect b="0" l="0" r="0" t="0"/>
          <a:stretch/>
        </p:blipFill>
        <p:spPr>
          <a:xfrm>
            <a:off x="914400" y="5065776"/>
            <a:ext cx="164592" cy="164592"/>
          </a:xfrm>
          <a:prstGeom prst="rect">
            <a:avLst/>
          </a:prstGeom>
          <a:noFill/>
          <a:ln>
            <a:noFill/>
          </a:ln>
        </p:spPr>
      </p:pic>
      <p:sp>
        <p:nvSpPr>
          <p:cNvPr id="438" name="Google Shape;438;p12"/>
          <p:cNvSpPr/>
          <p:nvPr/>
        </p:nvSpPr>
        <p:spPr>
          <a:xfrm>
            <a:off x="1143000" y="502920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9 Docker services orchestrated</a:t>
            </a:r>
            <a:endParaRPr sz="1100">
              <a:solidFill>
                <a:schemeClr val="dk1"/>
              </a:solidFill>
              <a:latin typeface="Calibri"/>
              <a:ea typeface="Calibri"/>
              <a:cs typeface="Calibri"/>
              <a:sym typeface="Calibri"/>
            </a:endParaRPr>
          </a:p>
        </p:txBody>
      </p:sp>
      <p:pic>
        <p:nvPicPr>
          <p:cNvPr descr="preencoded.png" id="439" name="Google Shape;439;p12"/>
          <p:cNvPicPr preferRelativeResize="0"/>
          <p:nvPr/>
        </p:nvPicPr>
        <p:blipFill rotWithShape="1">
          <a:blip r:embed="rId4">
            <a:alphaModFix/>
          </a:blip>
          <a:srcRect b="0" l="0" r="0" t="0"/>
          <a:stretch/>
        </p:blipFill>
        <p:spPr>
          <a:xfrm>
            <a:off x="914400" y="5321808"/>
            <a:ext cx="164592" cy="164592"/>
          </a:xfrm>
          <a:prstGeom prst="rect">
            <a:avLst/>
          </a:prstGeom>
          <a:noFill/>
          <a:ln>
            <a:noFill/>
          </a:ln>
        </p:spPr>
      </p:pic>
      <p:sp>
        <p:nvSpPr>
          <p:cNvPr id="440" name="Google Shape;440;p12"/>
          <p:cNvSpPr/>
          <p:nvPr/>
        </p:nvSpPr>
        <p:spPr>
          <a:xfrm>
            <a:off x="1143000" y="5285232"/>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Producer + Consumer + Spark</a:t>
            </a:r>
            <a:endParaRPr sz="1100">
              <a:solidFill>
                <a:schemeClr val="dk1"/>
              </a:solidFill>
              <a:latin typeface="Calibri"/>
              <a:ea typeface="Calibri"/>
              <a:cs typeface="Calibri"/>
              <a:sym typeface="Calibri"/>
            </a:endParaRPr>
          </a:p>
        </p:txBody>
      </p:sp>
      <p:pic>
        <p:nvPicPr>
          <p:cNvPr descr="preencoded.png" id="441" name="Google Shape;441;p12"/>
          <p:cNvPicPr preferRelativeResize="0"/>
          <p:nvPr/>
        </p:nvPicPr>
        <p:blipFill rotWithShape="1">
          <a:blip r:embed="rId4">
            <a:alphaModFix/>
          </a:blip>
          <a:srcRect b="0" l="0" r="0" t="0"/>
          <a:stretch/>
        </p:blipFill>
        <p:spPr>
          <a:xfrm>
            <a:off x="914400" y="5577840"/>
            <a:ext cx="164592" cy="164592"/>
          </a:xfrm>
          <a:prstGeom prst="rect">
            <a:avLst/>
          </a:prstGeom>
          <a:noFill/>
          <a:ln>
            <a:noFill/>
          </a:ln>
        </p:spPr>
      </p:pic>
      <p:sp>
        <p:nvSpPr>
          <p:cNvPr id="442" name="Google Shape;442;p12"/>
          <p:cNvSpPr/>
          <p:nvPr/>
        </p:nvSpPr>
        <p:spPr>
          <a:xfrm>
            <a:off x="1143000" y="5541264"/>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React + Express dashboard</a:t>
            </a:r>
            <a:endParaRPr sz="1100">
              <a:solidFill>
                <a:schemeClr val="dk1"/>
              </a:solidFill>
              <a:latin typeface="Calibri"/>
              <a:ea typeface="Calibri"/>
              <a:cs typeface="Calibri"/>
              <a:sym typeface="Calibri"/>
            </a:endParaRPr>
          </a:p>
        </p:txBody>
      </p:sp>
      <p:pic>
        <p:nvPicPr>
          <p:cNvPr descr="preencoded.png" id="443" name="Google Shape;443;p12"/>
          <p:cNvPicPr preferRelativeResize="0"/>
          <p:nvPr/>
        </p:nvPicPr>
        <p:blipFill rotWithShape="1">
          <a:blip r:embed="rId4">
            <a:alphaModFix/>
          </a:blip>
          <a:srcRect b="0" l="0" r="0" t="0"/>
          <a:stretch/>
        </p:blipFill>
        <p:spPr>
          <a:xfrm>
            <a:off x="914400" y="5833872"/>
            <a:ext cx="164592" cy="164592"/>
          </a:xfrm>
          <a:prstGeom prst="rect">
            <a:avLst/>
          </a:prstGeom>
          <a:noFill/>
          <a:ln>
            <a:noFill/>
          </a:ln>
        </p:spPr>
      </p:pic>
      <p:sp>
        <p:nvSpPr>
          <p:cNvPr id="444" name="Google Shape;444;p12"/>
          <p:cNvSpPr/>
          <p:nvPr/>
        </p:nvSpPr>
        <p:spPr>
          <a:xfrm>
            <a:off x="1143000" y="5797296"/>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3 Airflow DAGs configured</a:t>
            </a:r>
            <a:endParaRPr sz="1100">
              <a:solidFill>
                <a:schemeClr val="dk1"/>
              </a:solidFill>
              <a:latin typeface="Calibri"/>
              <a:ea typeface="Calibri"/>
              <a:cs typeface="Calibri"/>
              <a:sym typeface="Calibri"/>
            </a:endParaRPr>
          </a:p>
        </p:txBody>
      </p:sp>
      <p:sp>
        <p:nvSpPr>
          <p:cNvPr id="445" name="Google Shape;445;p12"/>
          <p:cNvSpPr/>
          <p:nvPr/>
        </p:nvSpPr>
        <p:spPr>
          <a:xfrm>
            <a:off x="6309360" y="3977640"/>
            <a:ext cx="5577840" cy="21488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2"/>
          <p:cNvSpPr/>
          <p:nvPr/>
        </p:nvSpPr>
        <p:spPr>
          <a:xfrm>
            <a:off x="6309360" y="3977640"/>
            <a:ext cx="5577840" cy="73152"/>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12"/>
          <p:cNvSpPr/>
          <p:nvPr/>
        </p:nvSpPr>
        <p:spPr>
          <a:xfrm>
            <a:off x="6629400" y="4297680"/>
            <a:ext cx="640080" cy="640080"/>
          </a:xfrm>
          <a:prstGeom prst="ellipse">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48" name="Google Shape;448;p12"/>
          <p:cNvPicPr preferRelativeResize="0"/>
          <p:nvPr/>
        </p:nvPicPr>
        <p:blipFill rotWithShape="1">
          <a:blip r:embed="rId7">
            <a:alphaModFix/>
          </a:blip>
          <a:srcRect b="0" l="0" r="0" t="0"/>
          <a:stretch/>
        </p:blipFill>
        <p:spPr>
          <a:xfrm>
            <a:off x="6766560" y="4434840"/>
            <a:ext cx="365760" cy="365760"/>
          </a:xfrm>
          <a:prstGeom prst="rect">
            <a:avLst/>
          </a:prstGeom>
          <a:noFill/>
          <a:ln>
            <a:noFill/>
          </a:ln>
        </p:spPr>
      </p:pic>
      <p:sp>
        <p:nvSpPr>
          <p:cNvPr id="449" name="Google Shape;449;p12"/>
          <p:cNvSpPr/>
          <p:nvPr/>
        </p:nvSpPr>
        <p:spPr>
          <a:xfrm>
            <a:off x="7452360" y="434340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Visualizations</a:t>
            </a:r>
            <a:endParaRPr sz="1800">
              <a:solidFill>
                <a:schemeClr val="dk1"/>
              </a:solidFill>
              <a:latin typeface="Calibri"/>
              <a:ea typeface="Calibri"/>
              <a:cs typeface="Calibri"/>
              <a:sym typeface="Calibri"/>
            </a:endParaRPr>
          </a:p>
        </p:txBody>
      </p:sp>
      <p:pic>
        <p:nvPicPr>
          <p:cNvPr descr="preencoded.png" id="450" name="Google Shape;450;p12"/>
          <p:cNvPicPr preferRelativeResize="0"/>
          <p:nvPr/>
        </p:nvPicPr>
        <p:blipFill rotWithShape="1">
          <a:blip r:embed="rId4">
            <a:alphaModFix/>
          </a:blip>
          <a:srcRect b="0" l="0" r="0" t="0"/>
          <a:stretch/>
        </p:blipFill>
        <p:spPr>
          <a:xfrm>
            <a:off x="6766560" y="5065776"/>
            <a:ext cx="164592" cy="164592"/>
          </a:xfrm>
          <a:prstGeom prst="rect">
            <a:avLst/>
          </a:prstGeom>
          <a:noFill/>
          <a:ln>
            <a:noFill/>
          </a:ln>
        </p:spPr>
      </p:pic>
      <p:sp>
        <p:nvSpPr>
          <p:cNvPr id="451" name="Google Shape;451;p12"/>
          <p:cNvSpPr/>
          <p:nvPr/>
        </p:nvSpPr>
        <p:spPr>
          <a:xfrm>
            <a:off x="6995160" y="502920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React dashboard (8 pages)</a:t>
            </a:r>
            <a:endParaRPr sz="1100">
              <a:solidFill>
                <a:schemeClr val="dk1"/>
              </a:solidFill>
              <a:latin typeface="Calibri"/>
              <a:ea typeface="Calibri"/>
              <a:cs typeface="Calibri"/>
              <a:sym typeface="Calibri"/>
            </a:endParaRPr>
          </a:p>
        </p:txBody>
      </p:sp>
      <p:pic>
        <p:nvPicPr>
          <p:cNvPr descr="preencoded.png" id="452" name="Google Shape;452;p12"/>
          <p:cNvPicPr preferRelativeResize="0"/>
          <p:nvPr/>
        </p:nvPicPr>
        <p:blipFill rotWithShape="1">
          <a:blip r:embed="rId4">
            <a:alphaModFix/>
          </a:blip>
          <a:srcRect b="0" l="0" r="0" t="0"/>
          <a:stretch/>
        </p:blipFill>
        <p:spPr>
          <a:xfrm>
            <a:off x="6766560" y="5321808"/>
            <a:ext cx="164592" cy="164592"/>
          </a:xfrm>
          <a:prstGeom prst="rect">
            <a:avLst/>
          </a:prstGeom>
          <a:noFill/>
          <a:ln>
            <a:noFill/>
          </a:ln>
        </p:spPr>
      </p:pic>
      <p:sp>
        <p:nvSpPr>
          <p:cNvPr id="453" name="Google Shape;453;p12"/>
          <p:cNvSpPr/>
          <p:nvPr/>
        </p:nvSpPr>
        <p:spPr>
          <a:xfrm>
            <a:off x="6995160" y="5285232"/>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Power BI dashboard (13 visuals)</a:t>
            </a:r>
            <a:endParaRPr sz="1100">
              <a:solidFill>
                <a:schemeClr val="dk1"/>
              </a:solidFill>
              <a:latin typeface="Calibri"/>
              <a:ea typeface="Calibri"/>
              <a:cs typeface="Calibri"/>
              <a:sym typeface="Calibri"/>
            </a:endParaRPr>
          </a:p>
        </p:txBody>
      </p:sp>
      <p:pic>
        <p:nvPicPr>
          <p:cNvPr descr="preencoded.png" id="454" name="Google Shape;454;p12"/>
          <p:cNvPicPr preferRelativeResize="0"/>
          <p:nvPr/>
        </p:nvPicPr>
        <p:blipFill rotWithShape="1">
          <a:blip r:embed="rId4">
            <a:alphaModFix/>
          </a:blip>
          <a:srcRect b="0" l="0" r="0" t="0"/>
          <a:stretch/>
        </p:blipFill>
        <p:spPr>
          <a:xfrm>
            <a:off x="6766560" y="5577840"/>
            <a:ext cx="164592" cy="164592"/>
          </a:xfrm>
          <a:prstGeom prst="rect">
            <a:avLst/>
          </a:prstGeom>
          <a:noFill/>
          <a:ln>
            <a:noFill/>
          </a:ln>
        </p:spPr>
      </p:pic>
      <p:sp>
        <p:nvSpPr>
          <p:cNvPr id="455" name="Google Shape;455;p12"/>
          <p:cNvSpPr/>
          <p:nvPr/>
        </p:nvSpPr>
        <p:spPr>
          <a:xfrm>
            <a:off x="6995160" y="5541264"/>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AI-generated summaries (live)</a:t>
            </a:r>
            <a:endParaRPr sz="1100">
              <a:solidFill>
                <a:schemeClr val="dk1"/>
              </a:solidFill>
              <a:latin typeface="Calibri"/>
              <a:ea typeface="Calibri"/>
              <a:cs typeface="Calibri"/>
              <a:sym typeface="Calibri"/>
            </a:endParaRPr>
          </a:p>
        </p:txBody>
      </p:sp>
      <p:pic>
        <p:nvPicPr>
          <p:cNvPr descr="preencoded.png" id="456" name="Google Shape;456;p12"/>
          <p:cNvPicPr preferRelativeResize="0"/>
          <p:nvPr/>
        </p:nvPicPr>
        <p:blipFill rotWithShape="1">
          <a:blip r:embed="rId4">
            <a:alphaModFix/>
          </a:blip>
          <a:srcRect b="0" l="0" r="0" t="0"/>
          <a:stretch/>
        </p:blipFill>
        <p:spPr>
          <a:xfrm>
            <a:off x="6766560" y="5833872"/>
            <a:ext cx="164592" cy="164592"/>
          </a:xfrm>
          <a:prstGeom prst="rect">
            <a:avLst/>
          </a:prstGeom>
          <a:noFill/>
          <a:ln>
            <a:noFill/>
          </a:ln>
        </p:spPr>
      </p:pic>
      <p:sp>
        <p:nvSpPr>
          <p:cNvPr id="457" name="Google Shape;457;p12"/>
          <p:cNvSpPr/>
          <p:nvPr/>
        </p:nvSpPr>
        <p:spPr>
          <a:xfrm>
            <a:off x="6995160" y="5797296"/>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1100"/>
              <a:buFont typeface="Calibri"/>
              <a:buNone/>
            </a:pPr>
            <a:r>
              <a:rPr lang="en-US" sz="1100">
                <a:solidFill>
                  <a:srgbClr val="374151"/>
                </a:solidFill>
                <a:latin typeface="Calibri"/>
                <a:ea typeface="Calibri"/>
                <a:cs typeface="Calibri"/>
                <a:sym typeface="Calibri"/>
              </a:rPr>
              <a:t>Forecast tables (3 horizons)</a:t>
            </a:r>
            <a:endParaRPr sz="1100">
              <a:solidFill>
                <a:schemeClr val="dk1"/>
              </a:solidFill>
              <a:latin typeface="Calibri"/>
              <a:ea typeface="Calibri"/>
              <a:cs typeface="Calibri"/>
              <a:sym typeface="Calibri"/>
            </a:endParaRPr>
          </a:p>
        </p:txBody>
      </p:sp>
      <p:sp>
        <p:nvSpPr>
          <p:cNvPr id="458" name="Google Shape;458;p12"/>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3" name="Shape 463"/>
        <p:cNvGrpSpPr/>
        <p:nvPr/>
      </p:nvGrpSpPr>
      <p:grpSpPr>
        <a:xfrm>
          <a:off x="0" y="0"/>
          <a:ext cx="0" cy="0"/>
          <a:chOff x="0" y="0"/>
          <a:chExt cx="0" cy="0"/>
        </a:xfrm>
      </p:grpSpPr>
      <p:sp>
        <p:nvSpPr>
          <p:cNvPr id="464" name="Google Shape;464;p13"/>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3"/>
          <p:cNvSpPr/>
          <p:nvPr/>
        </p:nvSpPr>
        <p:spPr>
          <a:xfrm>
            <a:off x="11430000" y="6492240"/>
            <a:ext cx="6400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11 </a:t>
            </a:r>
            <a:r>
              <a:rPr lang="en-US" sz="1000">
                <a:solidFill>
                  <a:srgbClr val="9CA3AF"/>
                </a:solidFill>
                <a:latin typeface="Calibri"/>
                <a:ea typeface="Calibri"/>
                <a:cs typeface="Calibri"/>
                <a:sym typeface="Calibri"/>
              </a:rPr>
              <a:t>/ 12</a:t>
            </a:r>
            <a:endParaRPr sz="1000">
              <a:solidFill>
                <a:schemeClr val="dk1"/>
              </a:solidFill>
              <a:latin typeface="Calibri"/>
              <a:ea typeface="Calibri"/>
              <a:cs typeface="Calibri"/>
              <a:sym typeface="Calibri"/>
            </a:endParaRPr>
          </a:p>
        </p:txBody>
      </p:sp>
      <p:sp>
        <p:nvSpPr>
          <p:cNvPr id="466" name="Google Shape;466;p13"/>
          <p:cNvSpPr/>
          <p:nvPr/>
        </p:nvSpPr>
        <p:spPr>
          <a:xfrm>
            <a:off x="640080" y="3200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3200"/>
              <a:buFont typeface="Calibri"/>
              <a:buNone/>
            </a:pPr>
            <a:r>
              <a:rPr b="1" lang="en-US" sz="3200">
                <a:solidFill>
                  <a:srgbClr val="1F2937"/>
                </a:solidFill>
                <a:latin typeface="Calibri"/>
                <a:ea typeface="Calibri"/>
                <a:cs typeface="Calibri"/>
                <a:sym typeface="Calibri"/>
              </a:rPr>
              <a:t>The Team</a:t>
            </a:r>
            <a:endParaRPr sz="3200">
              <a:solidFill>
                <a:schemeClr val="dk1"/>
              </a:solidFill>
              <a:latin typeface="Calibri"/>
              <a:ea typeface="Calibri"/>
              <a:cs typeface="Calibri"/>
              <a:sym typeface="Calibri"/>
            </a:endParaRPr>
          </a:p>
        </p:txBody>
      </p:sp>
      <p:sp>
        <p:nvSpPr>
          <p:cNvPr id="467" name="Google Shape;467;p13"/>
          <p:cNvSpPr/>
          <p:nvPr/>
        </p:nvSpPr>
        <p:spPr>
          <a:xfrm>
            <a:off x="640080" y="9144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lang="en-US" sz="1400">
                <a:solidFill>
                  <a:srgbClr val="6B7280"/>
                </a:solidFill>
                <a:latin typeface="Calibri"/>
                <a:ea typeface="Calibri"/>
                <a:cs typeface="Calibri"/>
                <a:sym typeface="Calibri"/>
              </a:rPr>
              <a:t>Five engineers, one platform</a:t>
            </a:r>
            <a:endParaRPr sz="1400">
              <a:solidFill>
                <a:schemeClr val="dk1"/>
              </a:solidFill>
              <a:latin typeface="Calibri"/>
              <a:ea typeface="Calibri"/>
              <a:cs typeface="Calibri"/>
              <a:sym typeface="Calibri"/>
            </a:endParaRPr>
          </a:p>
        </p:txBody>
      </p:sp>
      <p:sp>
        <p:nvSpPr>
          <p:cNvPr id="468" name="Google Shape;468;p13"/>
          <p:cNvSpPr/>
          <p:nvPr/>
        </p:nvSpPr>
        <p:spPr>
          <a:xfrm>
            <a:off x="457200" y="365760"/>
            <a:ext cx="73152" cy="50292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3"/>
          <p:cNvSpPr/>
          <p:nvPr/>
        </p:nvSpPr>
        <p:spPr>
          <a:xfrm>
            <a:off x="275692" y="1691640"/>
            <a:ext cx="2240280" cy="3840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3"/>
          <p:cNvSpPr/>
          <p:nvPr/>
        </p:nvSpPr>
        <p:spPr>
          <a:xfrm>
            <a:off x="275692" y="1691640"/>
            <a:ext cx="224028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3"/>
          <p:cNvSpPr/>
          <p:nvPr/>
        </p:nvSpPr>
        <p:spPr>
          <a:xfrm>
            <a:off x="984352" y="2011680"/>
            <a:ext cx="822960" cy="82296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2" name="Google Shape;472;p13"/>
          <p:cNvPicPr preferRelativeResize="0"/>
          <p:nvPr/>
        </p:nvPicPr>
        <p:blipFill rotWithShape="1">
          <a:blip r:embed="rId3">
            <a:alphaModFix/>
          </a:blip>
          <a:srcRect b="0" l="0" r="0" t="0"/>
          <a:stretch/>
        </p:blipFill>
        <p:spPr>
          <a:xfrm>
            <a:off x="1212952" y="2240280"/>
            <a:ext cx="365760" cy="365760"/>
          </a:xfrm>
          <a:prstGeom prst="rect">
            <a:avLst/>
          </a:prstGeom>
          <a:noFill/>
          <a:ln>
            <a:noFill/>
          </a:ln>
        </p:spPr>
      </p:pic>
      <p:sp>
        <p:nvSpPr>
          <p:cNvPr id="473" name="Google Shape;473;p13"/>
          <p:cNvSpPr/>
          <p:nvPr/>
        </p:nvSpPr>
        <p:spPr>
          <a:xfrm>
            <a:off x="367132" y="2971800"/>
            <a:ext cx="2057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Shahd</a:t>
            </a:r>
            <a:endParaRPr sz="1800">
              <a:solidFill>
                <a:schemeClr val="dk1"/>
              </a:solidFill>
              <a:latin typeface="Calibri"/>
              <a:ea typeface="Calibri"/>
              <a:cs typeface="Calibri"/>
              <a:sym typeface="Calibri"/>
            </a:endParaRPr>
          </a:p>
        </p:txBody>
      </p:sp>
      <p:sp>
        <p:nvSpPr>
          <p:cNvPr id="474" name="Google Shape;474;p13"/>
          <p:cNvSpPr/>
          <p:nvPr/>
        </p:nvSpPr>
        <p:spPr>
          <a:xfrm>
            <a:off x="412852" y="3474720"/>
            <a:ext cx="1965960" cy="320040"/>
          </a:xfrm>
          <a:prstGeom prst="rect">
            <a:avLst/>
          </a:prstGeom>
          <a:solidFill>
            <a:srgbClr val="047954">
              <a:alpha val="14901"/>
            </a:srgbClr>
          </a:solidFill>
          <a:ln cap="flat" cmpd="sng" w="12700">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3"/>
          <p:cNvSpPr/>
          <p:nvPr/>
        </p:nvSpPr>
        <p:spPr>
          <a:xfrm>
            <a:off x="412852" y="3474720"/>
            <a:ext cx="1965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900"/>
              <a:buFont typeface="Calibri"/>
              <a:buNone/>
            </a:pPr>
            <a:r>
              <a:rPr b="1" lang="en-US" sz="900">
                <a:solidFill>
                  <a:srgbClr val="047954"/>
                </a:solidFill>
                <a:latin typeface="Calibri"/>
                <a:ea typeface="Calibri"/>
                <a:cs typeface="Calibri"/>
                <a:sym typeface="Calibri"/>
              </a:rPr>
              <a:t>Consumer &amp; AI · Dashboard</a:t>
            </a:r>
            <a:endParaRPr sz="900">
              <a:solidFill>
                <a:schemeClr val="dk1"/>
              </a:solidFill>
              <a:latin typeface="Calibri"/>
              <a:ea typeface="Calibri"/>
              <a:cs typeface="Calibri"/>
              <a:sym typeface="Calibri"/>
            </a:endParaRPr>
          </a:p>
        </p:txBody>
      </p:sp>
      <p:sp>
        <p:nvSpPr>
          <p:cNvPr id="476" name="Google Shape;476;p13"/>
          <p:cNvSpPr/>
          <p:nvPr/>
        </p:nvSpPr>
        <p:spPr>
          <a:xfrm>
            <a:off x="1167232" y="4023360"/>
            <a:ext cx="457200" cy="2743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77" name="Google Shape;477;p13"/>
          <p:cNvPicPr preferRelativeResize="0"/>
          <p:nvPr/>
        </p:nvPicPr>
        <p:blipFill rotWithShape="1">
          <a:blip r:embed="rId4">
            <a:alphaModFix/>
          </a:blip>
          <a:srcRect b="0" l="0" r="0" t="0"/>
          <a:stretch/>
        </p:blipFill>
        <p:spPr>
          <a:xfrm>
            <a:off x="440284" y="4306824"/>
            <a:ext cx="137160" cy="137160"/>
          </a:xfrm>
          <a:prstGeom prst="rect">
            <a:avLst/>
          </a:prstGeom>
          <a:noFill/>
          <a:ln>
            <a:noFill/>
          </a:ln>
        </p:spPr>
      </p:pic>
      <p:sp>
        <p:nvSpPr>
          <p:cNvPr id="478" name="Google Shape;478;p13"/>
          <p:cNvSpPr/>
          <p:nvPr/>
        </p:nvSpPr>
        <p:spPr>
          <a:xfrm>
            <a:off x="641452" y="425196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Python consumer (ML + DQ)</a:t>
            </a:r>
            <a:endParaRPr sz="1000">
              <a:solidFill>
                <a:schemeClr val="dk1"/>
              </a:solidFill>
              <a:latin typeface="Calibri"/>
              <a:ea typeface="Calibri"/>
              <a:cs typeface="Calibri"/>
              <a:sym typeface="Calibri"/>
            </a:endParaRPr>
          </a:p>
        </p:txBody>
      </p:sp>
      <p:pic>
        <p:nvPicPr>
          <p:cNvPr descr="preencoded.png" id="479" name="Google Shape;479;p13"/>
          <p:cNvPicPr preferRelativeResize="0"/>
          <p:nvPr/>
        </p:nvPicPr>
        <p:blipFill rotWithShape="1">
          <a:blip r:embed="rId4">
            <a:alphaModFix/>
          </a:blip>
          <a:srcRect b="0" l="0" r="0" t="0"/>
          <a:stretch/>
        </p:blipFill>
        <p:spPr>
          <a:xfrm>
            <a:off x="440284" y="4672584"/>
            <a:ext cx="137160" cy="137160"/>
          </a:xfrm>
          <a:prstGeom prst="rect">
            <a:avLst/>
          </a:prstGeom>
          <a:noFill/>
          <a:ln>
            <a:noFill/>
          </a:ln>
        </p:spPr>
      </p:pic>
      <p:sp>
        <p:nvSpPr>
          <p:cNvPr id="480" name="Google Shape;480;p13"/>
          <p:cNvSpPr/>
          <p:nvPr/>
        </p:nvSpPr>
        <p:spPr>
          <a:xfrm>
            <a:off x="641452" y="461772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Gemini AI integration</a:t>
            </a:r>
            <a:endParaRPr sz="1000">
              <a:solidFill>
                <a:schemeClr val="dk1"/>
              </a:solidFill>
              <a:latin typeface="Calibri"/>
              <a:ea typeface="Calibri"/>
              <a:cs typeface="Calibri"/>
              <a:sym typeface="Calibri"/>
            </a:endParaRPr>
          </a:p>
        </p:txBody>
      </p:sp>
      <p:pic>
        <p:nvPicPr>
          <p:cNvPr descr="preencoded.png" id="481" name="Google Shape;481;p13"/>
          <p:cNvPicPr preferRelativeResize="0"/>
          <p:nvPr/>
        </p:nvPicPr>
        <p:blipFill rotWithShape="1">
          <a:blip r:embed="rId4">
            <a:alphaModFix/>
          </a:blip>
          <a:srcRect b="0" l="0" r="0" t="0"/>
          <a:stretch/>
        </p:blipFill>
        <p:spPr>
          <a:xfrm>
            <a:off x="440284" y="5038344"/>
            <a:ext cx="137160" cy="137160"/>
          </a:xfrm>
          <a:prstGeom prst="rect">
            <a:avLst/>
          </a:prstGeom>
          <a:noFill/>
          <a:ln>
            <a:noFill/>
          </a:ln>
        </p:spPr>
      </p:pic>
      <p:sp>
        <p:nvSpPr>
          <p:cNvPr id="482" name="Google Shape;482;p13"/>
          <p:cNvSpPr/>
          <p:nvPr/>
        </p:nvSpPr>
        <p:spPr>
          <a:xfrm>
            <a:off x="641452" y="498348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React dashboard</a:t>
            </a:r>
            <a:endParaRPr sz="1000">
              <a:solidFill>
                <a:schemeClr val="dk1"/>
              </a:solidFill>
              <a:latin typeface="Calibri"/>
              <a:ea typeface="Calibri"/>
              <a:cs typeface="Calibri"/>
              <a:sym typeface="Calibri"/>
            </a:endParaRPr>
          </a:p>
        </p:txBody>
      </p:sp>
      <p:sp>
        <p:nvSpPr>
          <p:cNvPr id="483" name="Google Shape;483;p13"/>
          <p:cNvSpPr/>
          <p:nvPr/>
        </p:nvSpPr>
        <p:spPr>
          <a:xfrm>
            <a:off x="2625700" y="1691640"/>
            <a:ext cx="2240280" cy="3840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3"/>
          <p:cNvSpPr/>
          <p:nvPr/>
        </p:nvSpPr>
        <p:spPr>
          <a:xfrm>
            <a:off x="2625700" y="1691640"/>
            <a:ext cx="2240280" cy="7315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3"/>
          <p:cNvSpPr/>
          <p:nvPr/>
        </p:nvSpPr>
        <p:spPr>
          <a:xfrm>
            <a:off x="3334360" y="2011680"/>
            <a:ext cx="822960" cy="822960"/>
          </a:xfrm>
          <a:prstGeom prst="ellipse">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86" name="Google Shape;486;p13"/>
          <p:cNvPicPr preferRelativeResize="0"/>
          <p:nvPr/>
        </p:nvPicPr>
        <p:blipFill rotWithShape="1">
          <a:blip r:embed="rId3">
            <a:alphaModFix/>
          </a:blip>
          <a:srcRect b="0" l="0" r="0" t="0"/>
          <a:stretch/>
        </p:blipFill>
        <p:spPr>
          <a:xfrm>
            <a:off x="3562960" y="2240280"/>
            <a:ext cx="365760" cy="365760"/>
          </a:xfrm>
          <a:prstGeom prst="rect">
            <a:avLst/>
          </a:prstGeom>
          <a:noFill/>
          <a:ln>
            <a:noFill/>
          </a:ln>
        </p:spPr>
      </p:pic>
      <p:sp>
        <p:nvSpPr>
          <p:cNvPr id="487" name="Google Shape;487;p13"/>
          <p:cNvSpPr/>
          <p:nvPr/>
        </p:nvSpPr>
        <p:spPr>
          <a:xfrm>
            <a:off x="2717140" y="2971800"/>
            <a:ext cx="2057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Omnya</a:t>
            </a:r>
            <a:endParaRPr sz="1800">
              <a:solidFill>
                <a:schemeClr val="dk1"/>
              </a:solidFill>
              <a:latin typeface="Calibri"/>
              <a:ea typeface="Calibri"/>
              <a:cs typeface="Calibri"/>
              <a:sym typeface="Calibri"/>
            </a:endParaRPr>
          </a:p>
        </p:txBody>
      </p:sp>
      <p:sp>
        <p:nvSpPr>
          <p:cNvPr id="488" name="Google Shape;488;p13"/>
          <p:cNvSpPr/>
          <p:nvPr/>
        </p:nvSpPr>
        <p:spPr>
          <a:xfrm>
            <a:off x="2762860" y="3474720"/>
            <a:ext cx="1965960" cy="320040"/>
          </a:xfrm>
          <a:prstGeom prst="rect">
            <a:avLst/>
          </a:prstGeom>
          <a:solidFill>
            <a:srgbClr val="336EA8">
              <a:alpha val="14901"/>
            </a:srgbClr>
          </a:solidFill>
          <a:ln cap="flat" cmpd="sng" w="12700">
            <a:solidFill>
              <a:srgbClr val="336E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3"/>
          <p:cNvSpPr/>
          <p:nvPr/>
        </p:nvSpPr>
        <p:spPr>
          <a:xfrm>
            <a:off x="2762860" y="3474720"/>
            <a:ext cx="1965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6EA8"/>
              </a:buClr>
              <a:buSzPts val="900"/>
              <a:buFont typeface="Calibri"/>
              <a:buNone/>
            </a:pPr>
            <a:r>
              <a:rPr b="1" lang="en-US" sz="900">
                <a:solidFill>
                  <a:srgbClr val="336EA8"/>
                </a:solidFill>
                <a:latin typeface="Calibri"/>
                <a:ea typeface="Calibri"/>
                <a:cs typeface="Calibri"/>
                <a:sym typeface="Calibri"/>
              </a:rPr>
              <a:t>Business Intelligence</a:t>
            </a:r>
            <a:endParaRPr sz="900">
              <a:solidFill>
                <a:schemeClr val="dk1"/>
              </a:solidFill>
              <a:latin typeface="Calibri"/>
              <a:ea typeface="Calibri"/>
              <a:cs typeface="Calibri"/>
              <a:sym typeface="Calibri"/>
            </a:endParaRPr>
          </a:p>
        </p:txBody>
      </p:sp>
      <p:sp>
        <p:nvSpPr>
          <p:cNvPr id="490" name="Google Shape;490;p13"/>
          <p:cNvSpPr/>
          <p:nvPr/>
        </p:nvSpPr>
        <p:spPr>
          <a:xfrm>
            <a:off x="3517240" y="4023360"/>
            <a:ext cx="457200" cy="27432"/>
          </a:xfrm>
          <a:prstGeom prst="rect">
            <a:avLst/>
          </a:prstGeom>
          <a:solidFill>
            <a:srgbClr val="336E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91" name="Google Shape;491;p13"/>
          <p:cNvPicPr preferRelativeResize="0"/>
          <p:nvPr/>
        </p:nvPicPr>
        <p:blipFill rotWithShape="1">
          <a:blip r:embed="rId4">
            <a:alphaModFix/>
          </a:blip>
          <a:srcRect b="0" l="0" r="0" t="0"/>
          <a:stretch/>
        </p:blipFill>
        <p:spPr>
          <a:xfrm>
            <a:off x="2790292" y="4306824"/>
            <a:ext cx="137160" cy="137160"/>
          </a:xfrm>
          <a:prstGeom prst="rect">
            <a:avLst/>
          </a:prstGeom>
          <a:noFill/>
          <a:ln>
            <a:noFill/>
          </a:ln>
        </p:spPr>
      </p:pic>
      <p:sp>
        <p:nvSpPr>
          <p:cNvPr id="492" name="Google Shape;492;p13"/>
          <p:cNvSpPr/>
          <p:nvPr/>
        </p:nvSpPr>
        <p:spPr>
          <a:xfrm>
            <a:off x="2991460" y="425196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Power BI dashboard</a:t>
            </a:r>
            <a:endParaRPr sz="1000">
              <a:solidFill>
                <a:schemeClr val="dk1"/>
              </a:solidFill>
              <a:latin typeface="Calibri"/>
              <a:ea typeface="Calibri"/>
              <a:cs typeface="Calibri"/>
              <a:sym typeface="Calibri"/>
            </a:endParaRPr>
          </a:p>
        </p:txBody>
      </p:sp>
      <p:pic>
        <p:nvPicPr>
          <p:cNvPr descr="preencoded.png" id="493" name="Google Shape;493;p13"/>
          <p:cNvPicPr preferRelativeResize="0"/>
          <p:nvPr/>
        </p:nvPicPr>
        <p:blipFill rotWithShape="1">
          <a:blip r:embed="rId4">
            <a:alphaModFix/>
          </a:blip>
          <a:srcRect b="0" l="0" r="0" t="0"/>
          <a:stretch/>
        </p:blipFill>
        <p:spPr>
          <a:xfrm>
            <a:off x="2790292" y="4672584"/>
            <a:ext cx="137160" cy="137160"/>
          </a:xfrm>
          <a:prstGeom prst="rect">
            <a:avLst/>
          </a:prstGeom>
          <a:noFill/>
          <a:ln>
            <a:noFill/>
          </a:ln>
        </p:spPr>
      </p:pic>
      <p:sp>
        <p:nvSpPr>
          <p:cNvPr id="494" name="Google Shape;494;p13"/>
          <p:cNvSpPr/>
          <p:nvPr/>
        </p:nvSpPr>
        <p:spPr>
          <a:xfrm>
            <a:off x="2991460" y="461772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4 </a:t>
            </a:r>
            <a:r>
              <a:rPr lang="en-US" sz="1000">
                <a:solidFill>
                  <a:srgbClr val="374151"/>
                </a:solidFill>
                <a:latin typeface="Calibri"/>
                <a:ea typeface="Calibri"/>
                <a:cs typeface="Calibri"/>
                <a:sym typeface="Calibri"/>
              </a:rPr>
              <a:t>visualizations</a:t>
            </a:r>
            <a:endParaRPr sz="1000">
              <a:solidFill>
                <a:schemeClr val="dk1"/>
              </a:solidFill>
              <a:latin typeface="Calibri"/>
              <a:ea typeface="Calibri"/>
              <a:cs typeface="Calibri"/>
              <a:sym typeface="Calibri"/>
            </a:endParaRPr>
          </a:p>
        </p:txBody>
      </p:sp>
      <p:pic>
        <p:nvPicPr>
          <p:cNvPr descr="preencoded.png" id="495" name="Google Shape;495;p13"/>
          <p:cNvPicPr preferRelativeResize="0"/>
          <p:nvPr/>
        </p:nvPicPr>
        <p:blipFill rotWithShape="1">
          <a:blip r:embed="rId4">
            <a:alphaModFix/>
          </a:blip>
          <a:srcRect b="0" l="0" r="0" t="0"/>
          <a:stretch/>
        </p:blipFill>
        <p:spPr>
          <a:xfrm>
            <a:off x="2790292" y="5038344"/>
            <a:ext cx="137160" cy="137160"/>
          </a:xfrm>
          <a:prstGeom prst="rect">
            <a:avLst/>
          </a:prstGeom>
          <a:noFill/>
          <a:ln>
            <a:noFill/>
          </a:ln>
        </p:spPr>
      </p:pic>
      <p:sp>
        <p:nvSpPr>
          <p:cNvPr id="496" name="Google Shape;496;p13"/>
          <p:cNvSpPr/>
          <p:nvPr/>
        </p:nvSpPr>
        <p:spPr>
          <a:xfrm>
            <a:off x="2991460" y="498348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Executive analytics</a:t>
            </a:r>
            <a:endParaRPr sz="1000">
              <a:solidFill>
                <a:schemeClr val="dk1"/>
              </a:solidFill>
              <a:latin typeface="Calibri"/>
              <a:ea typeface="Calibri"/>
              <a:cs typeface="Calibri"/>
              <a:sym typeface="Calibri"/>
            </a:endParaRPr>
          </a:p>
        </p:txBody>
      </p:sp>
      <p:sp>
        <p:nvSpPr>
          <p:cNvPr id="497" name="Google Shape;497;p13"/>
          <p:cNvSpPr/>
          <p:nvPr/>
        </p:nvSpPr>
        <p:spPr>
          <a:xfrm>
            <a:off x="4975708" y="1691640"/>
            <a:ext cx="2240280" cy="3840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3"/>
          <p:cNvSpPr/>
          <p:nvPr/>
        </p:nvSpPr>
        <p:spPr>
          <a:xfrm>
            <a:off x="4975708" y="1691640"/>
            <a:ext cx="224028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3"/>
          <p:cNvSpPr/>
          <p:nvPr/>
        </p:nvSpPr>
        <p:spPr>
          <a:xfrm>
            <a:off x="5684368" y="2011680"/>
            <a:ext cx="822960" cy="822960"/>
          </a:xfrm>
          <a:prstGeom prst="ellipse">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0" name="Google Shape;500;p13"/>
          <p:cNvPicPr preferRelativeResize="0"/>
          <p:nvPr/>
        </p:nvPicPr>
        <p:blipFill rotWithShape="1">
          <a:blip r:embed="rId3">
            <a:alphaModFix/>
          </a:blip>
          <a:srcRect b="0" l="0" r="0" t="0"/>
          <a:stretch/>
        </p:blipFill>
        <p:spPr>
          <a:xfrm>
            <a:off x="5912968" y="2240280"/>
            <a:ext cx="365760" cy="365760"/>
          </a:xfrm>
          <a:prstGeom prst="rect">
            <a:avLst/>
          </a:prstGeom>
          <a:noFill/>
          <a:ln>
            <a:noFill/>
          </a:ln>
        </p:spPr>
      </p:pic>
      <p:sp>
        <p:nvSpPr>
          <p:cNvPr id="501" name="Google Shape;501;p13"/>
          <p:cNvSpPr/>
          <p:nvPr/>
        </p:nvSpPr>
        <p:spPr>
          <a:xfrm>
            <a:off x="5067148" y="2971800"/>
            <a:ext cx="2057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Abdelrahman</a:t>
            </a:r>
            <a:endParaRPr sz="1800">
              <a:solidFill>
                <a:schemeClr val="dk1"/>
              </a:solidFill>
              <a:latin typeface="Calibri"/>
              <a:ea typeface="Calibri"/>
              <a:cs typeface="Calibri"/>
              <a:sym typeface="Calibri"/>
            </a:endParaRPr>
          </a:p>
        </p:txBody>
      </p:sp>
      <p:sp>
        <p:nvSpPr>
          <p:cNvPr id="502" name="Google Shape;502;p13"/>
          <p:cNvSpPr/>
          <p:nvPr/>
        </p:nvSpPr>
        <p:spPr>
          <a:xfrm>
            <a:off x="5112868" y="3474720"/>
            <a:ext cx="1965960" cy="320040"/>
          </a:xfrm>
          <a:prstGeom prst="rect">
            <a:avLst/>
          </a:prstGeom>
          <a:solidFill>
            <a:srgbClr val="0FAB7D">
              <a:alpha val="14901"/>
            </a:srgbClr>
          </a:solidFill>
          <a:ln cap="flat" cmpd="sng" w="12700">
            <a:solidFill>
              <a:srgbClr val="0FAB7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3"/>
          <p:cNvSpPr/>
          <p:nvPr/>
        </p:nvSpPr>
        <p:spPr>
          <a:xfrm>
            <a:off x="5112868" y="3474720"/>
            <a:ext cx="1965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AB7D"/>
              </a:buClr>
              <a:buSzPts val="900"/>
              <a:buFont typeface="Calibri"/>
              <a:buNone/>
            </a:pPr>
            <a:r>
              <a:rPr b="1" lang="en-US" sz="900">
                <a:solidFill>
                  <a:srgbClr val="0FAB7D"/>
                </a:solidFill>
                <a:latin typeface="Calibri"/>
                <a:ea typeface="Calibri"/>
                <a:cs typeface="Calibri"/>
                <a:sym typeface="Calibri"/>
              </a:rPr>
              <a:t>Spark &amp; dbt</a:t>
            </a:r>
            <a:endParaRPr sz="900">
              <a:solidFill>
                <a:schemeClr val="dk1"/>
              </a:solidFill>
              <a:latin typeface="Calibri"/>
              <a:ea typeface="Calibri"/>
              <a:cs typeface="Calibri"/>
              <a:sym typeface="Calibri"/>
            </a:endParaRPr>
          </a:p>
        </p:txBody>
      </p:sp>
      <p:sp>
        <p:nvSpPr>
          <p:cNvPr id="504" name="Google Shape;504;p13"/>
          <p:cNvSpPr/>
          <p:nvPr/>
        </p:nvSpPr>
        <p:spPr>
          <a:xfrm>
            <a:off x="5867248" y="4023360"/>
            <a:ext cx="457200" cy="2743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05" name="Google Shape;505;p13"/>
          <p:cNvPicPr preferRelativeResize="0"/>
          <p:nvPr/>
        </p:nvPicPr>
        <p:blipFill rotWithShape="1">
          <a:blip r:embed="rId4">
            <a:alphaModFix/>
          </a:blip>
          <a:srcRect b="0" l="0" r="0" t="0"/>
          <a:stretch/>
        </p:blipFill>
        <p:spPr>
          <a:xfrm>
            <a:off x="5140300" y="4306824"/>
            <a:ext cx="137160" cy="137160"/>
          </a:xfrm>
          <a:prstGeom prst="rect">
            <a:avLst/>
          </a:prstGeom>
          <a:noFill/>
          <a:ln>
            <a:noFill/>
          </a:ln>
        </p:spPr>
      </p:pic>
      <p:sp>
        <p:nvSpPr>
          <p:cNvPr id="506" name="Google Shape;506;p13"/>
          <p:cNvSpPr/>
          <p:nvPr/>
        </p:nvSpPr>
        <p:spPr>
          <a:xfrm>
            <a:off x="5341468" y="425196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Spark Streaming consumer</a:t>
            </a:r>
            <a:endParaRPr sz="1000">
              <a:solidFill>
                <a:schemeClr val="dk1"/>
              </a:solidFill>
              <a:latin typeface="Calibri"/>
              <a:ea typeface="Calibri"/>
              <a:cs typeface="Calibri"/>
              <a:sym typeface="Calibri"/>
            </a:endParaRPr>
          </a:p>
        </p:txBody>
      </p:sp>
      <p:pic>
        <p:nvPicPr>
          <p:cNvPr descr="preencoded.png" id="507" name="Google Shape;507;p13"/>
          <p:cNvPicPr preferRelativeResize="0"/>
          <p:nvPr/>
        </p:nvPicPr>
        <p:blipFill rotWithShape="1">
          <a:blip r:embed="rId4">
            <a:alphaModFix/>
          </a:blip>
          <a:srcRect b="0" l="0" r="0" t="0"/>
          <a:stretch/>
        </p:blipFill>
        <p:spPr>
          <a:xfrm>
            <a:off x="5140300" y="4672584"/>
            <a:ext cx="137160" cy="137160"/>
          </a:xfrm>
          <a:prstGeom prst="rect">
            <a:avLst/>
          </a:prstGeom>
          <a:noFill/>
          <a:ln>
            <a:noFill/>
          </a:ln>
        </p:spPr>
      </p:pic>
      <p:sp>
        <p:nvSpPr>
          <p:cNvPr id="508" name="Google Shape;508;p13"/>
          <p:cNvSpPr/>
          <p:nvPr/>
        </p:nvSpPr>
        <p:spPr>
          <a:xfrm>
            <a:off x="5341468" y="461772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dbt project (5 models)</a:t>
            </a:r>
            <a:endParaRPr sz="1000">
              <a:solidFill>
                <a:schemeClr val="dk1"/>
              </a:solidFill>
              <a:latin typeface="Calibri"/>
              <a:ea typeface="Calibri"/>
              <a:cs typeface="Calibri"/>
              <a:sym typeface="Calibri"/>
            </a:endParaRPr>
          </a:p>
        </p:txBody>
      </p:sp>
      <p:pic>
        <p:nvPicPr>
          <p:cNvPr descr="preencoded.png" id="509" name="Google Shape;509;p13"/>
          <p:cNvPicPr preferRelativeResize="0"/>
          <p:nvPr/>
        </p:nvPicPr>
        <p:blipFill rotWithShape="1">
          <a:blip r:embed="rId4">
            <a:alphaModFix/>
          </a:blip>
          <a:srcRect b="0" l="0" r="0" t="0"/>
          <a:stretch/>
        </p:blipFill>
        <p:spPr>
          <a:xfrm>
            <a:off x="5140300" y="5038344"/>
            <a:ext cx="137160" cy="137160"/>
          </a:xfrm>
          <a:prstGeom prst="rect">
            <a:avLst/>
          </a:prstGeom>
          <a:noFill/>
          <a:ln>
            <a:noFill/>
          </a:ln>
        </p:spPr>
      </p:pic>
      <p:sp>
        <p:nvSpPr>
          <p:cNvPr id="510" name="Google Shape;510;p13"/>
          <p:cNvSpPr/>
          <p:nvPr/>
        </p:nvSpPr>
        <p:spPr>
          <a:xfrm>
            <a:off x="5341468" y="498348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Warehouse loading</a:t>
            </a:r>
            <a:endParaRPr sz="1000">
              <a:solidFill>
                <a:schemeClr val="dk1"/>
              </a:solidFill>
              <a:latin typeface="Calibri"/>
              <a:ea typeface="Calibri"/>
              <a:cs typeface="Calibri"/>
              <a:sym typeface="Calibri"/>
            </a:endParaRPr>
          </a:p>
        </p:txBody>
      </p:sp>
      <p:sp>
        <p:nvSpPr>
          <p:cNvPr id="511" name="Google Shape;511;p13"/>
          <p:cNvSpPr/>
          <p:nvPr/>
        </p:nvSpPr>
        <p:spPr>
          <a:xfrm>
            <a:off x="7325716" y="1691640"/>
            <a:ext cx="2240280" cy="3840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3"/>
          <p:cNvSpPr/>
          <p:nvPr/>
        </p:nvSpPr>
        <p:spPr>
          <a:xfrm>
            <a:off x="7325716" y="1691640"/>
            <a:ext cx="2240280" cy="73152"/>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3"/>
          <p:cNvSpPr/>
          <p:nvPr/>
        </p:nvSpPr>
        <p:spPr>
          <a:xfrm>
            <a:off x="8034376" y="2011680"/>
            <a:ext cx="822960" cy="822960"/>
          </a:xfrm>
          <a:prstGeom prst="ellipse">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14" name="Google Shape;514;p13"/>
          <p:cNvPicPr preferRelativeResize="0"/>
          <p:nvPr/>
        </p:nvPicPr>
        <p:blipFill rotWithShape="1">
          <a:blip r:embed="rId3">
            <a:alphaModFix/>
          </a:blip>
          <a:srcRect b="0" l="0" r="0" t="0"/>
          <a:stretch/>
        </p:blipFill>
        <p:spPr>
          <a:xfrm>
            <a:off x="8262976" y="2240280"/>
            <a:ext cx="365760" cy="365760"/>
          </a:xfrm>
          <a:prstGeom prst="rect">
            <a:avLst/>
          </a:prstGeom>
          <a:noFill/>
          <a:ln>
            <a:noFill/>
          </a:ln>
        </p:spPr>
      </p:pic>
      <p:sp>
        <p:nvSpPr>
          <p:cNvPr id="515" name="Google Shape;515;p13"/>
          <p:cNvSpPr/>
          <p:nvPr/>
        </p:nvSpPr>
        <p:spPr>
          <a:xfrm>
            <a:off x="7417156" y="2971800"/>
            <a:ext cx="2057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Ebtihal</a:t>
            </a:r>
            <a:endParaRPr sz="1800">
              <a:solidFill>
                <a:schemeClr val="dk1"/>
              </a:solidFill>
              <a:latin typeface="Calibri"/>
              <a:ea typeface="Calibri"/>
              <a:cs typeface="Calibri"/>
              <a:sym typeface="Calibri"/>
            </a:endParaRPr>
          </a:p>
        </p:txBody>
      </p:sp>
      <p:sp>
        <p:nvSpPr>
          <p:cNvPr id="516" name="Google Shape;516;p13"/>
          <p:cNvSpPr/>
          <p:nvPr/>
        </p:nvSpPr>
        <p:spPr>
          <a:xfrm>
            <a:off x="7462876" y="3474720"/>
            <a:ext cx="1965960" cy="320040"/>
          </a:xfrm>
          <a:prstGeom prst="rect">
            <a:avLst/>
          </a:prstGeom>
          <a:solidFill>
            <a:srgbClr val="D7B119">
              <a:alpha val="14901"/>
            </a:srgbClr>
          </a:solidFill>
          <a:ln cap="flat" cmpd="sng" w="12700">
            <a:solidFill>
              <a:srgbClr val="D7B11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3"/>
          <p:cNvSpPr/>
          <p:nvPr/>
        </p:nvSpPr>
        <p:spPr>
          <a:xfrm>
            <a:off x="7462876" y="3474720"/>
            <a:ext cx="1965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7B119"/>
              </a:buClr>
              <a:buSzPts val="900"/>
              <a:buFont typeface="Calibri"/>
              <a:buNone/>
            </a:pPr>
            <a:r>
              <a:rPr b="1" lang="en-US" sz="900">
                <a:solidFill>
                  <a:srgbClr val="D7B119"/>
                </a:solidFill>
                <a:latin typeface="Calibri"/>
                <a:ea typeface="Calibri"/>
                <a:cs typeface="Calibri"/>
                <a:sym typeface="Calibri"/>
              </a:rPr>
              <a:t>Airflow Orchestration</a:t>
            </a:r>
            <a:endParaRPr sz="900">
              <a:solidFill>
                <a:schemeClr val="dk1"/>
              </a:solidFill>
              <a:latin typeface="Calibri"/>
              <a:ea typeface="Calibri"/>
              <a:cs typeface="Calibri"/>
              <a:sym typeface="Calibri"/>
            </a:endParaRPr>
          </a:p>
        </p:txBody>
      </p:sp>
      <p:sp>
        <p:nvSpPr>
          <p:cNvPr id="518" name="Google Shape;518;p13"/>
          <p:cNvSpPr/>
          <p:nvPr/>
        </p:nvSpPr>
        <p:spPr>
          <a:xfrm>
            <a:off x="8217256" y="4023360"/>
            <a:ext cx="457200" cy="27432"/>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19" name="Google Shape;519;p13"/>
          <p:cNvPicPr preferRelativeResize="0"/>
          <p:nvPr/>
        </p:nvPicPr>
        <p:blipFill rotWithShape="1">
          <a:blip r:embed="rId4">
            <a:alphaModFix/>
          </a:blip>
          <a:srcRect b="0" l="0" r="0" t="0"/>
          <a:stretch/>
        </p:blipFill>
        <p:spPr>
          <a:xfrm>
            <a:off x="7490308" y="4306824"/>
            <a:ext cx="137160" cy="137160"/>
          </a:xfrm>
          <a:prstGeom prst="rect">
            <a:avLst/>
          </a:prstGeom>
          <a:noFill/>
          <a:ln>
            <a:noFill/>
          </a:ln>
        </p:spPr>
      </p:pic>
      <p:sp>
        <p:nvSpPr>
          <p:cNvPr id="520" name="Google Shape;520;p13"/>
          <p:cNvSpPr/>
          <p:nvPr/>
        </p:nvSpPr>
        <p:spPr>
          <a:xfrm>
            <a:off x="7691476" y="425196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Airflow setup</a:t>
            </a:r>
            <a:endParaRPr sz="1000">
              <a:solidFill>
                <a:schemeClr val="dk1"/>
              </a:solidFill>
              <a:latin typeface="Calibri"/>
              <a:ea typeface="Calibri"/>
              <a:cs typeface="Calibri"/>
              <a:sym typeface="Calibri"/>
            </a:endParaRPr>
          </a:p>
        </p:txBody>
      </p:sp>
      <p:pic>
        <p:nvPicPr>
          <p:cNvPr descr="preencoded.png" id="521" name="Google Shape;521;p13"/>
          <p:cNvPicPr preferRelativeResize="0"/>
          <p:nvPr/>
        </p:nvPicPr>
        <p:blipFill rotWithShape="1">
          <a:blip r:embed="rId4">
            <a:alphaModFix/>
          </a:blip>
          <a:srcRect b="0" l="0" r="0" t="0"/>
          <a:stretch/>
        </p:blipFill>
        <p:spPr>
          <a:xfrm>
            <a:off x="7490308" y="4672584"/>
            <a:ext cx="137160" cy="137160"/>
          </a:xfrm>
          <a:prstGeom prst="rect">
            <a:avLst/>
          </a:prstGeom>
          <a:noFill/>
          <a:ln>
            <a:noFill/>
          </a:ln>
        </p:spPr>
      </p:pic>
      <p:sp>
        <p:nvSpPr>
          <p:cNvPr id="522" name="Google Shape;522;p13"/>
          <p:cNvSpPr/>
          <p:nvPr/>
        </p:nvSpPr>
        <p:spPr>
          <a:xfrm>
            <a:off x="7691476" y="461772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2 </a:t>
            </a:r>
            <a:r>
              <a:rPr lang="en-US" sz="1000">
                <a:solidFill>
                  <a:srgbClr val="374151"/>
                </a:solidFill>
                <a:latin typeface="Calibri"/>
                <a:ea typeface="Calibri"/>
                <a:cs typeface="Calibri"/>
                <a:sym typeface="Calibri"/>
              </a:rPr>
              <a:t>scheduled DAGs</a:t>
            </a:r>
            <a:endParaRPr sz="1000">
              <a:solidFill>
                <a:schemeClr val="dk1"/>
              </a:solidFill>
              <a:latin typeface="Calibri"/>
              <a:ea typeface="Calibri"/>
              <a:cs typeface="Calibri"/>
              <a:sym typeface="Calibri"/>
            </a:endParaRPr>
          </a:p>
        </p:txBody>
      </p:sp>
      <p:pic>
        <p:nvPicPr>
          <p:cNvPr descr="preencoded.png" id="523" name="Google Shape;523;p13"/>
          <p:cNvPicPr preferRelativeResize="0"/>
          <p:nvPr/>
        </p:nvPicPr>
        <p:blipFill rotWithShape="1">
          <a:blip r:embed="rId4">
            <a:alphaModFix/>
          </a:blip>
          <a:srcRect b="0" l="0" r="0" t="0"/>
          <a:stretch/>
        </p:blipFill>
        <p:spPr>
          <a:xfrm>
            <a:off x="7490308" y="5038344"/>
            <a:ext cx="137160" cy="137160"/>
          </a:xfrm>
          <a:prstGeom prst="rect">
            <a:avLst/>
          </a:prstGeom>
          <a:noFill/>
          <a:ln>
            <a:noFill/>
          </a:ln>
        </p:spPr>
      </p:pic>
      <p:sp>
        <p:nvSpPr>
          <p:cNvPr id="524" name="Google Shape;524;p13"/>
          <p:cNvSpPr/>
          <p:nvPr/>
        </p:nvSpPr>
        <p:spPr>
          <a:xfrm>
            <a:off x="7691476" y="498348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Workflow automation</a:t>
            </a:r>
            <a:endParaRPr sz="1000">
              <a:solidFill>
                <a:schemeClr val="dk1"/>
              </a:solidFill>
              <a:latin typeface="Calibri"/>
              <a:ea typeface="Calibri"/>
              <a:cs typeface="Calibri"/>
              <a:sym typeface="Calibri"/>
            </a:endParaRPr>
          </a:p>
        </p:txBody>
      </p:sp>
      <p:sp>
        <p:nvSpPr>
          <p:cNvPr id="525" name="Google Shape;525;p13"/>
          <p:cNvSpPr/>
          <p:nvPr/>
        </p:nvSpPr>
        <p:spPr>
          <a:xfrm>
            <a:off x="9675724" y="1691640"/>
            <a:ext cx="2240280" cy="384048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13"/>
          <p:cNvSpPr/>
          <p:nvPr/>
        </p:nvSpPr>
        <p:spPr>
          <a:xfrm>
            <a:off x="9675724" y="1691640"/>
            <a:ext cx="2240280" cy="7315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13"/>
          <p:cNvSpPr/>
          <p:nvPr/>
        </p:nvSpPr>
        <p:spPr>
          <a:xfrm>
            <a:off x="10384384" y="2011680"/>
            <a:ext cx="822960" cy="822960"/>
          </a:xfrm>
          <a:prstGeom prst="ellipse">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28" name="Google Shape;528;p13"/>
          <p:cNvPicPr preferRelativeResize="0"/>
          <p:nvPr/>
        </p:nvPicPr>
        <p:blipFill rotWithShape="1">
          <a:blip r:embed="rId3">
            <a:alphaModFix/>
          </a:blip>
          <a:srcRect b="0" l="0" r="0" t="0"/>
          <a:stretch/>
        </p:blipFill>
        <p:spPr>
          <a:xfrm>
            <a:off x="10612984" y="2240280"/>
            <a:ext cx="365760" cy="365760"/>
          </a:xfrm>
          <a:prstGeom prst="rect">
            <a:avLst/>
          </a:prstGeom>
          <a:noFill/>
          <a:ln>
            <a:noFill/>
          </a:ln>
        </p:spPr>
      </p:pic>
      <p:sp>
        <p:nvSpPr>
          <p:cNvPr id="529" name="Google Shape;529;p13"/>
          <p:cNvSpPr/>
          <p:nvPr/>
        </p:nvSpPr>
        <p:spPr>
          <a:xfrm>
            <a:off x="9767164" y="2971800"/>
            <a:ext cx="2057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800"/>
              <a:buFont typeface="Calibri"/>
              <a:buNone/>
            </a:pPr>
            <a:r>
              <a:rPr b="1" lang="en-US" sz="1800">
                <a:solidFill>
                  <a:srgbClr val="1F2937"/>
                </a:solidFill>
                <a:latin typeface="Calibri"/>
                <a:ea typeface="Calibri"/>
                <a:cs typeface="Calibri"/>
                <a:sym typeface="Calibri"/>
              </a:rPr>
              <a:t>Aya</a:t>
            </a:r>
            <a:endParaRPr sz="1800">
              <a:solidFill>
                <a:schemeClr val="dk1"/>
              </a:solidFill>
              <a:latin typeface="Calibri"/>
              <a:ea typeface="Calibri"/>
              <a:cs typeface="Calibri"/>
              <a:sym typeface="Calibri"/>
            </a:endParaRPr>
          </a:p>
        </p:txBody>
      </p:sp>
      <p:sp>
        <p:nvSpPr>
          <p:cNvPr id="530" name="Google Shape;530;p13"/>
          <p:cNvSpPr/>
          <p:nvPr/>
        </p:nvSpPr>
        <p:spPr>
          <a:xfrm>
            <a:off x="9812884" y="3474720"/>
            <a:ext cx="1965960" cy="320040"/>
          </a:xfrm>
          <a:prstGeom prst="rect">
            <a:avLst/>
          </a:prstGeom>
          <a:solidFill>
            <a:srgbClr val="047954">
              <a:alpha val="14901"/>
            </a:srgbClr>
          </a:solidFill>
          <a:ln cap="flat" cmpd="sng" w="12700">
            <a:solidFill>
              <a:srgbClr val="0479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13"/>
          <p:cNvSpPr/>
          <p:nvPr/>
        </p:nvSpPr>
        <p:spPr>
          <a:xfrm>
            <a:off x="9812884" y="3474720"/>
            <a:ext cx="1965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900"/>
              <a:buFont typeface="Calibri"/>
              <a:buNone/>
            </a:pPr>
            <a:r>
              <a:rPr b="1" lang="en-US" sz="900">
                <a:solidFill>
                  <a:srgbClr val="047954"/>
                </a:solidFill>
                <a:latin typeface="Calibri"/>
                <a:ea typeface="Calibri"/>
                <a:cs typeface="Calibri"/>
                <a:sym typeface="Calibri"/>
              </a:rPr>
              <a:t>Data Warehouse</a:t>
            </a:r>
            <a:endParaRPr sz="900">
              <a:solidFill>
                <a:schemeClr val="dk1"/>
              </a:solidFill>
              <a:latin typeface="Calibri"/>
              <a:ea typeface="Calibri"/>
              <a:cs typeface="Calibri"/>
              <a:sym typeface="Calibri"/>
            </a:endParaRPr>
          </a:p>
        </p:txBody>
      </p:sp>
      <p:sp>
        <p:nvSpPr>
          <p:cNvPr id="532" name="Google Shape;532;p13"/>
          <p:cNvSpPr/>
          <p:nvPr/>
        </p:nvSpPr>
        <p:spPr>
          <a:xfrm>
            <a:off x="10567264" y="4023360"/>
            <a:ext cx="457200" cy="27432"/>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33" name="Google Shape;533;p13"/>
          <p:cNvPicPr preferRelativeResize="0"/>
          <p:nvPr/>
        </p:nvPicPr>
        <p:blipFill rotWithShape="1">
          <a:blip r:embed="rId4">
            <a:alphaModFix/>
          </a:blip>
          <a:srcRect b="0" l="0" r="0" t="0"/>
          <a:stretch/>
        </p:blipFill>
        <p:spPr>
          <a:xfrm>
            <a:off x="9840316" y="4306824"/>
            <a:ext cx="137160" cy="137160"/>
          </a:xfrm>
          <a:prstGeom prst="rect">
            <a:avLst/>
          </a:prstGeom>
          <a:noFill/>
          <a:ln>
            <a:noFill/>
          </a:ln>
        </p:spPr>
      </p:pic>
      <p:sp>
        <p:nvSpPr>
          <p:cNvPr id="534" name="Google Shape;534;p13"/>
          <p:cNvSpPr/>
          <p:nvPr/>
        </p:nvSpPr>
        <p:spPr>
          <a:xfrm>
            <a:off x="10041484" y="425196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Star schema design</a:t>
            </a:r>
            <a:endParaRPr sz="1000">
              <a:solidFill>
                <a:schemeClr val="dk1"/>
              </a:solidFill>
              <a:latin typeface="Calibri"/>
              <a:ea typeface="Calibri"/>
              <a:cs typeface="Calibri"/>
              <a:sym typeface="Calibri"/>
            </a:endParaRPr>
          </a:p>
        </p:txBody>
      </p:sp>
      <p:pic>
        <p:nvPicPr>
          <p:cNvPr descr="preencoded.png" id="535" name="Google Shape;535;p13"/>
          <p:cNvPicPr preferRelativeResize="0"/>
          <p:nvPr/>
        </p:nvPicPr>
        <p:blipFill rotWithShape="1">
          <a:blip r:embed="rId4">
            <a:alphaModFix/>
          </a:blip>
          <a:srcRect b="0" l="0" r="0" t="0"/>
          <a:stretch/>
        </p:blipFill>
        <p:spPr>
          <a:xfrm>
            <a:off x="9840316" y="4672584"/>
            <a:ext cx="137160" cy="137160"/>
          </a:xfrm>
          <a:prstGeom prst="rect">
            <a:avLst/>
          </a:prstGeom>
          <a:noFill/>
          <a:ln>
            <a:noFill/>
          </a:ln>
        </p:spPr>
      </p:pic>
      <p:sp>
        <p:nvSpPr>
          <p:cNvPr id="536" name="Google Shape;536;p13"/>
          <p:cNvSpPr/>
          <p:nvPr/>
        </p:nvSpPr>
        <p:spPr>
          <a:xfrm>
            <a:off x="10041484" y="461772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Fact + 3 dimensions</a:t>
            </a:r>
            <a:endParaRPr sz="1000">
              <a:solidFill>
                <a:schemeClr val="dk1"/>
              </a:solidFill>
              <a:latin typeface="Calibri"/>
              <a:ea typeface="Calibri"/>
              <a:cs typeface="Calibri"/>
              <a:sym typeface="Calibri"/>
            </a:endParaRPr>
          </a:p>
        </p:txBody>
      </p:sp>
      <p:pic>
        <p:nvPicPr>
          <p:cNvPr descr="preencoded.png" id="537" name="Google Shape;537;p13"/>
          <p:cNvPicPr preferRelativeResize="0"/>
          <p:nvPr/>
        </p:nvPicPr>
        <p:blipFill rotWithShape="1">
          <a:blip r:embed="rId4">
            <a:alphaModFix/>
          </a:blip>
          <a:srcRect b="0" l="0" r="0" t="0"/>
          <a:stretch/>
        </p:blipFill>
        <p:spPr>
          <a:xfrm>
            <a:off x="9840316" y="5038344"/>
            <a:ext cx="137160" cy="137160"/>
          </a:xfrm>
          <a:prstGeom prst="rect">
            <a:avLst/>
          </a:prstGeom>
          <a:noFill/>
          <a:ln>
            <a:noFill/>
          </a:ln>
        </p:spPr>
      </p:pic>
      <p:sp>
        <p:nvSpPr>
          <p:cNvPr id="538" name="Google Shape;538;p13"/>
          <p:cNvSpPr/>
          <p:nvPr/>
        </p:nvSpPr>
        <p:spPr>
          <a:xfrm>
            <a:off x="10041484" y="4983480"/>
            <a:ext cx="17830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1000"/>
              <a:buFont typeface="Calibri"/>
              <a:buNone/>
            </a:pPr>
            <a:r>
              <a:rPr lang="en-US" sz="1000">
                <a:solidFill>
                  <a:srgbClr val="374151"/>
                </a:solidFill>
                <a:latin typeface="Calibri"/>
                <a:ea typeface="Calibri"/>
                <a:cs typeface="Calibri"/>
                <a:sym typeface="Calibri"/>
              </a:rPr>
              <a:t>Warehouse modeling</a:t>
            </a:r>
            <a:endParaRPr sz="1000">
              <a:solidFill>
                <a:schemeClr val="dk1"/>
              </a:solidFill>
              <a:latin typeface="Calibri"/>
              <a:ea typeface="Calibri"/>
              <a:cs typeface="Calibri"/>
              <a:sym typeface="Calibri"/>
            </a:endParaRPr>
          </a:p>
        </p:txBody>
      </p:sp>
      <p:sp>
        <p:nvSpPr>
          <p:cNvPr id="539" name="Google Shape;539;p13"/>
          <p:cNvSpPr/>
          <p:nvPr/>
        </p:nvSpPr>
        <p:spPr>
          <a:xfrm>
            <a:off x="457200" y="5669280"/>
            <a:ext cx="11247120" cy="7772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3"/>
          <p:cNvSpPr/>
          <p:nvPr/>
        </p:nvSpPr>
        <p:spPr>
          <a:xfrm>
            <a:off x="457200" y="5669280"/>
            <a:ext cx="11247120" cy="73152"/>
          </a:xfrm>
          <a:prstGeom prst="rect">
            <a:avLst/>
          </a:prstGeom>
          <a:solidFill>
            <a:srgbClr val="0FAB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3"/>
          <p:cNvSpPr/>
          <p:nvPr/>
        </p:nvSpPr>
        <p:spPr>
          <a:xfrm>
            <a:off x="640080" y="576072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1" lang="en-US" sz="1000">
                <a:solidFill>
                  <a:srgbClr val="6B7280"/>
                </a:solidFill>
                <a:latin typeface="Calibri"/>
                <a:ea typeface="Calibri"/>
                <a:cs typeface="Calibri"/>
                <a:sym typeface="Calibri"/>
              </a:rPr>
              <a:t>COLLABORATION</a:t>
            </a:r>
            <a:endParaRPr sz="1000">
              <a:solidFill>
                <a:schemeClr val="dk1"/>
              </a:solidFill>
              <a:latin typeface="Calibri"/>
              <a:ea typeface="Calibri"/>
              <a:cs typeface="Calibri"/>
              <a:sym typeface="Calibri"/>
            </a:endParaRPr>
          </a:p>
        </p:txBody>
      </p:sp>
      <p:sp>
        <p:nvSpPr>
          <p:cNvPr id="542" name="Google Shape;542;p13"/>
          <p:cNvSpPr/>
          <p:nvPr/>
        </p:nvSpPr>
        <p:spPr>
          <a:xfrm>
            <a:off x="640080" y="5989320"/>
            <a:ext cx="10972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100"/>
              <a:buFont typeface="Calibri"/>
              <a:buNone/>
            </a:pPr>
            <a:r>
              <a:rPr b="1" lang="en-US" sz="1100">
                <a:solidFill>
                  <a:srgbClr val="047954"/>
                </a:solidFill>
                <a:latin typeface="Calibri"/>
                <a:ea typeface="Calibri"/>
                <a:cs typeface="Calibri"/>
                <a:sym typeface="Calibri"/>
              </a:rPr>
              <a:t>GitHub</a:t>
            </a:r>
            <a:r>
              <a:rPr lang="en-US" sz="1100">
                <a:solidFill>
                  <a:srgbClr val="374151"/>
                </a:solidFill>
                <a:latin typeface="Calibri"/>
                <a:ea typeface="Calibri"/>
                <a:cs typeface="Calibri"/>
                <a:sym typeface="Calibri"/>
              </a:rPr>
              <a:t> for code  ·  </a:t>
            </a:r>
            <a:r>
              <a:rPr b="1" lang="en-US" sz="1100">
                <a:solidFill>
                  <a:srgbClr val="047954"/>
                </a:solidFill>
                <a:latin typeface="Calibri"/>
                <a:ea typeface="Calibri"/>
                <a:cs typeface="Calibri"/>
                <a:sym typeface="Calibri"/>
              </a:rPr>
              <a:t>Jira </a:t>
            </a:r>
            <a:r>
              <a:rPr lang="en-US" sz="1100">
                <a:solidFill>
                  <a:srgbClr val="374151"/>
                </a:solidFill>
                <a:latin typeface="Calibri"/>
                <a:ea typeface="Calibri"/>
                <a:cs typeface="Calibri"/>
                <a:sym typeface="Calibri"/>
              </a:rPr>
              <a:t> for daily sync  ·  </a:t>
            </a:r>
            <a:r>
              <a:rPr b="1" lang="en-US" sz="1100">
                <a:solidFill>
                  <a:srgbClr val="047954"/>
                </a:solidFill>
                <a:latin typeface="Calibri"/>
                <a:ea typeface="Calibri"/>
                <a:cs typeface="Calibri"/>
                <a:sym typeface="Calibri"/>
              </a:rPr>
              <a:t>Google Drive</a:t>
            </a:r>
            <a:r>
              <a:rPr lang="en-US" sz="1100">
                <a:solidFill>
                  <a:srgbClr val="374151"/>
                </a:solidFill>
                <a:latin typeface="Calibri"/>
                <a:ea typeface="Calibri"/>
                <a:cs typeface="Calibri"/>
                <a:sym typeface="Calibri"/>
              </a:rPr>
              <a:t> for shared docs  ·  </a:t>
            </a:r>
            <a:r>
              <a:rPr b="1" lang="en-US" sz="1100">
                <a:solidFill>
                  <a:srgbClr val="047954"/>
                </a:solidFill>
                <a:latin typeface="Calibri"/>
                <a:ea typeface="Calibri"/>
                <a:cs typeface="Calibri"/>
                <a:sym typeface="Calibri"/>
              </a:rPr>
              <a:t>Pull requests</a:t>
            </a:r>
            <a:r>
              <a:rPr lang="en-US" sz="1100">
                <a:solidFill>
                  <a:srgbClr val="374151"/>
                </a:solidFill>
                <a:latin typeface="Calibri"/>
                <a:ea typeface="Calibri"/>
                <a:cs typeface="Calibri"/>
                <a:sym typeface="Calibri"/>
              </a:rPr>
              <a:t> for code review  ·  </a:t>
            </a:r>
            <a:r>
              <a:rPr b="1" lang="en-US" sz="1100">
                <a:solidFill>
                  <a:srgbClr val="047954"/>
                </a:solidFill>
                <a:latin typeface="Calibri"/>
                <a:ea typeface="Calibri"/>
                <a:cs typeface="Calibri"/>
                <a:sym typeface="Calibri"/>
              </a:rPr>
              <a:t>Weekly milestones</a:t>
            </a:r>
            <a:endParaRPr sz="1100">
              <a:solidFill>
                <a:schemeClr val="dk1"/>
              </a:solidFill>
              <a:latin typeface="Calibri"/>
              <a:ea typeface="Calibri"/>
              <a:cs typeface="Calibri"/>
              <a:sym typeface="Calibri"/>
            </a:endParaRPr>
          </a:p>
        </p:txBody>
      </p:sp>
      <p:sp>
        <p:nvSpPr>
          <p:cNvPr id="543" name="Google Shape;543;p13"/>
          <p:cNvSpPr/>
          <p:nvPr/>
        </p:nvSpPr>
        <p:spPr>
          <a:xfrm>
            <a:off x="274320" y="6492240"/>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1000"/>
              <a:buFont typeface="Calibri"/>
              <a:buNone/>
            </a:pPr>
            <a:r>
              <a:rPr lang="en-US" sz="1000">
                <a:solidFill>
                  <a:srgbClr val="9CA3AF"/>
                </a:solidFill>
                <a:latin typeface="Calibri"/>
                <a:ea typeface="Calibri"/>
                <a:cs typeface="Calibri"/>
                <a:sym typeface="Calibri"/>
              </a:rPr>
              <a:t>Cairo Smart Traffic</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14"/>
          <p:cNvSpPr/>
          <p:nvPr/>
        </p:nvSpPr>
        <p:spPr>
          <a:xfrm>
            <a:off x="0" y="0"/>
            <a:ext cx="12191695" cy="137160"/>
          </a:xfrm>
          <a:prstGeom prst="rect">
            <a:avLst/>
          </a:prstGeom>
          <a:solidFill>
            <a:srgbClr val="0479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4"/>
          <p:cNvSpPr/>
          <p:nvPr/>
        </p:nvSpPr>
        <p:spPr>
          <a:xfrm>
            <a:off x="457200" y="1645920"/>
            <a:ext cx="11247120"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2000"/>
              <a:buFont typeface="Calibri"/>
              <a:buNone/>
            </a:pPr>
            <a:r>
              <a:rPr b="1" lang="en-US" sz="12000">
                <a:solidFill>
                  <a:srgbClr val="047954"/>
                </a:solidFill>
                <a:latin typeface="Calibri"/>
                <a:ea typeface="Calibri"/>
                <a:cs typeface="Calibri"/>
                <a:sym typeface="Calibri"/>
              </a:rPr>
              <a:t>Thank You</a:t>
            </a:r>
            <a:endParaRPr sz="12000">
              <a:solidFill>
                <a:schemeClr val="dk1"/>
              </a:solidFill>
              <a:latin typeface="Calibri"/>
              <a:ea typeface="Calibri"/>
              <a:cs typeface="Calibri"/>
              <a:sym typeface="Calibri"/>
            </a:endParaRPr>
          </a:p>
        </p:txBody>
      </p:sp>
      <p:sp>
        <p:nvSpPr>
          <p:cNvPr id="551" name="Google Shape;551;p14"/>
          <p:cNvSpPr/>
          <p:nvPr/>
        </p:nvSpPr>
        <p:spPr>
          <a:xfrm>
            <a:off x="457200" y="3200400"/>
            <a:ext cx="112471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2800"/>
              <a:buFont typeface="Calibri"/>
              <a:buNone/>
            </a:pPr>
            <a:r>
              <a:rPr i="1" lang="en-US" sz="2800">
                <a:solidFill>
                  <a:srgbClr val="6B7280"/>
                </a:solidFill>
                <a:latin typeface="Calibri"/>
                <a:ea typeface="Calibri"/>
                <a:cs typeface="Calibri"/>
                <a:sym typeface="Calibri"/>
              </a:rPr>
              <a:t>Questions?</a:t>
            </a:r>
            <a:endParaRPr sz="2800">
              <a:solidFill>
                <a:schemeClr val="dk1"/>
              </a:solidFill>
              <a:latin typeface="Calibri"/>
              <a:ea typeface="Calibri"/>
              <a:cs typeface="Calibri"/>
              <a:sym typeface="Calibri"/>
            </a:endParaRPr>
          </a:p>
        </p:txBody>
      </p:sp>
      <p:sp>
        <p:nvSpPr>
          <p:cNvPr id="552" name="Google Shape;552;p14"/>
          <p:cNvSpPr/>
          <p:nvPr/>
        </p:nvSpPr>
        <p:spPr>
          <a:xfrm>
            <a:off x="5760720" y="3931920"/>
            <a:ext cx="667512" cy="45720"/>
          </a:xfrm>
          <a:prstGeom prst="rect">
            <a:avLst/>
          </a:prstGeom>
          <a:solidFill>
            <a:srgbClr val="D7B11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4"/>
          <p:cNvSpPr/>
          <p:nvPr/>
        </p:nvSpPr>
        <p:spPr>
          <a:xfrm>
            <a:off x="2286000" y="4297680"/>
            <a:ext cx="7589520" cy="1691640"/>
          </a:xfrm>
          <a:prstGeom prst="rect">
            <a:avLst/>
          </a:prstGeom>
          <a:solidFill>
            <a:srgbClr val="FFFFFF"/>
          </a:solidFill>
          <a:ln cap="flat" cmpd="sng" w="12700">
            <a:solidFill>
              <a:srgbClr val="E5E7EB"/>
            </a:solidFill>
            <a:prstDash val="solid"/>
            <a:round/>
            <a:headEnd len="sm" w="sm" type="none"/>
            <a:tailEnd len="sm" w="sm" type="none"/>
          </a:ln>
          <a:effectLst>
            <a:outerShdw blurRad="101600" rotWithShape="0" algn="bl" dir="5400000" dist="25400">
              <a:srgbClr val="000000">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54" name="Google Shape;554;p14"/>
          <p:cNvPicPr preferRelativeResize="0"/>
          <p:nvPr/>
        </p:nvPicPr>
        <p:blipFill rotWithShape="1">
          <a:blip r:embed="rId3">
            <a:alphaModFix/>
          </a:blip>
          <a:srcRect b="0" l="0" r="0" t="0"/>
          <a:stretch/>
        </p:blipFill>
        <p:spPr>
          <a:xfrm>
            <a:off x="2743200" y="4526280"/>
            <a:ext cx="320040" cy="320040"/>
          </a:xfrm>
          <a:prstGeom prst="rect">
            <a:avLst/>
          </a:prstGeom>
          <a:noFill/>
          <a:ln>
            <a:noFill/>
          </a:ln>
        </p:spPr>
      </p:pic>
      <p:sp>
        <p:nvSpPr>
          <p:cNvPr id="555" name="Google Shape;555;p14"/>
          <p:cNvSpPr/>
          <p:nvPr/>
        </p:nvSpPr>
        <p:spPr>
          <a:xfrm>
            <a:off x="3200400" y="449884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GitHub Repository</a:t>
            </a:r>
            <a:endParaRPr sz="1100">
              <a:solidFill>
                <a:schemeClr val="dk1"/>
              </a:solidFill>
              <a:latin typeface="Calibri"/>
              <a:ea typeface="Calibri"/>
              <a:cs typeface="Calibri"/>
              <a:sym typeface="Calibri"/>
            </a:endParaRPr>
          </a:p>
        </p:txBody>
      </p:sp>
      <p:sp>
        <p:nvSpPr>
          <p:cNvPr id="556" name="Google Shape;556;p14"/>
          <p:cNvSpPr/>
          <p:nvPr/>
        </p:nvSpPr>
        <p:spPr>
          <a:xfrm>
            <a:off x="3200400" y="4736592"/>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400">
                <a:solidFill>
                  <a:srgbClr val="336EA8"/>
                </a:solidFill>
                <a:latin typeface="Calibri"/>
                <a:ea typeface="Calibri"/>
                <a:cs typeface="Calibri"/>
                <a:sym typeface="Calibri"/>
              </a:rPr>
              <a:t>https://github.com/ShahdAshraf11/azure-traffic-analytics-stream.git</a:t>
            </a:r>
            <a:endParaRPr sz="1400">
              <a:solidFill>
                <a:schemeClr val="dk1"/>
              </a:solidFill>
              <a:latin typeface="Calibri"/>
              <a:ea typeface="Calibri"/>
              <a:cs typeface="Calibri"/>
              <a:sym typeface="Calibri"/>
            </a:endParaRPr>
          </a:p>
        </p:txBody>
      </p:sp>
      <p:pic>
        <p:nvPicPr>
          <p:cNvPr descr="preencoded.png" id="557" name="Google Shape;557;p14"/>
          <p:cNvPicPr preferRelativeResize="0"/>
          <p:nvPr/>
        </p:nvPicPr>
        <p:blipFill rotWithShape="1">
          <a:blip r:embed="rId4">
            <a:alphaModFix/>
          </a:blip>
          <a:srcRect b="0" l="0" r="0" t="0"/>
          <a:stretch/>
        </p:blipFill>
        <p:spPr>
          <a:xfrm>
            <a:off x="2743200" y="5120640"/>
            <a:ext cx="320040" cy="320040"/>
          </a:xfrm>
          <a:prstGeom prst="rect">
            <a:avLst/>
          </a:prstGeom>
          <a:noFill/>
          <a:ln>
            <a:noFill/>
          </a:ln>
        </p:spPr>
      </p:pic>
      <p:sp>
        <p:nvSpPr>
          <p:cNvPr id="558" name="Google Shape;558;p14"/>
          <p:cNvSpPr/>
          <p:nvPr/>
        </p:nvSpPr>
        <p:spPr>
          <a:xfrm>
            <a:off x="3200400" y="509320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lang="en-US" sz="1100">
                <a:solidFill>
                  <a:srgbClr val="6B7280"/>
                </a:solidFill>
                <a:latin typeface="Calibri"/>
                <a:ea typeface="Calibri"/>
                <a:cs typeface="Calibri"/>
                <a:sym typeface="Calibri"/>
              </a:rPr>
              <a:t>Live Demo</a:t>
            </a:r>
            <a:endParaRPr sz="1100">
              <a:solidFill>
                <a:schemeClr val="dk1"/>
              </a:solidFill>
              <a:latin typeface="Calibri"/>
              <a:ea typeface="Calibri"/>
              <a:cs typeface="Calibri"/>
              <a:sym typeface="Calibri"/>
            </a:endParaRPr>
          </a:p>
        </p:txBody>
      </p:sp>
      <p:sp>
        <p:nvSpPr>
          <p:cNvPr id="559" name="Google Shape;559;p14"/>
          <p:cNvSpPr/>
          <p:nvPr/>
        </p:nvSpPr>
        <p:spPr>
          <a:xfrm>
            <a:off x="3200400" y="5330952"/>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lang="en-US" sz="1400">
                <a:solidFill>
                  <a:srgbClr val="1F2937"/>
                </a:solidFill>
                <a:latin typeface="Calibri"/>
                <a:ea typeface="Calibri"/>
                <a:cs typeface="Calibri"/>
                <a:sym typeface="Calibri"/>
              </a:rPr>
              <a:t>Available now </a:t>
            </a:r>
            <a:endParaRPr sz="1400">
              <a:solidFill>
                <a:schemeClr val="dk1"/>
              </a:solidFill>
              <a:latin typeface="Calibri"/>
              <a:ea typeface="Calibri"/>
              <a:cs typeface="Calibri"/>
              <a:sym typeface="Calibri"/>
            </a:endParaRPr>
          </a:p>
        </p:txBody>
      </p:sp>
      <p:sp>
        <p:nvSpPr>
          <p:cNvPr id="560" name="Google Shape;560;p14"/>
          <p:cNvSpPr/>
          <p:nvPr/>
        </p:nvSpPr>
        <p:spPr>
          <a:xfrm>
            <a:off x="0" y="6309360"/>
            <a:ext cx="12191695" cy="548640"/>
          </a:xfrm>
          <a:prstGeom prst="rect">
            <a:avLst/>
          </a:prstGeom>
          <a:solidFill>
            <a:srgbClr val="047954">
              <a:alpha val="784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4"/>
          <p:cNvSpPr/>
          <p:nvPr/>
        </p:nvSpPr>
        <p:spPr>
          <a:xfrm>
            <a:off x="457200" y="6446520"/>
            <a:ext cx="11247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954"/>
              </a:buClr>
              <a:buSzPts val="1100"/>
              <a:buFont typeface="Calibri"/>
              <a:buNone/>
            </a:pPr>
            <a:r>
              <a:rPr b="1" lang="en-US" sz="1100">
                <a:solidFill>
                  <a:srgbClr val="047954"/>
                </a:solidFill>
                <a:latin typeface="Calibri"/>
                <a:ea typeface="Calibri"/>
                <a:cs typeface="Calibri"/>
                <a:sym typeface="Calibri"/>
              </a:rPr>
              <a:t>DEPI · DATA ENGINEERING TRACK CAPSTONE · 22 MAY 2026</a:t>
            </a:r>
            <a:endParaRPr sz="1100">
              <a:solidFill>
                <a:schemeClr val="dk1"/>
              </a:solidFill>
              <a:latin typeface="Calibri"/>
              <a:ea typeface="Calibri"/>
              <a:cs typeface="Calibri"/>
              <a:sym typeface="Calibri"/>
            </a:endParaRPr>
          </a:p>
        </p:txBody>
      </p:sp>
      <p:pic>
        <p:nvPicPr>
          <p:cNvPr id="562" name="Google Shape;562;p14"/>
          <p:cNvPicPr preferRelativeResize="0"/>
          <p:nvPr/>
        </p:nvPicPr>
        <p:blipFill rotWithShape="1">
          <a:blip r:embed="rId5">
            <a:alphaModFix/>
          </a:blip>
          <a:srcRect b="0" l="0" r="0" t="0"/>
          <a:stretch/>
        </p:blipFill>
        <p:spPr>
          <a:xfrm>
            <a:off x="9002750" y="4533339"/>
            <a:ext cx="667512" cy="667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